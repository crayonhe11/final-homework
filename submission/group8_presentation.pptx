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1ca4f4abbf4e48" /><Relationship Type="http://schemas.openxmlformats.org/officeDocument/2006/relationships/extended-properties" Target="/docProps/app.xml" Id="R4909a5c0bbd14b3c" /><Relationship Type="http://schemas.openxmlformats.org/officeDocument/2006/relationships/officeDocument" Target="/ppt/presentation.xml" Id="Rceea8097cbe6479c" /></Relationships>
</file>

<file path=ppt/presentation.xml><?xml version="1.0" encoding="utf-8"?>
<p:presentation xmlns:p="http://schemas.openxmlformats.org/presentationml/2006/main">
  <p:sldMasterIdLst>
    <p:sldMasterId xmlns:r="http://schemas.openxmlformats.org/officeDocument/2006/relationships" id="2147483648" r:id="R1296deea9ed445f8"/>
  </p:sldMasterIdLst>
  <p:notesMasterIdLst>
    <p:notesMasterId xmlns:r="http://schemas.openxmlformats.org/officeDocument/2006/relationships" r:id="Rcc107ac5a7734936"/>
  </p:notesMasterIdLst>
  <p:sldIdLst>
    <p:sldId xmlns:r="http://schemas.openxmlformats.org/officeDocument/2006/relationships" id="256" r:id="R23596416841a44c3"/>
    <p:sldId xmlns:r="http://schemas.openxmlformats.org/officeDocument/2006/relationships" id="257" r:id="R1059448bac984a0b"/>
    <p:sldId xmlns:r="http://schemas.openxmlformats.org/officeDocument/2006/relationships" id="258" r:id="R466c163148154d76"/>
    <p:sldId xmlns:r="http://schemas.openxmlformats.org/officeDocument/2006/relationships" id="259" r:id="Re02cb7cb82ed4810"/>
    <p:sldId xmlns:r="http://schemas.openxmlformats.org/officeDocument/2006/relationships" id="260" r:id="R8c58a41cde4847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c88705d2644ca6" /><Relationship Type="http://schemas.openxmlformats.org/officeDocument/2006/relationships/slideMaster" Target="/ppt/slideMasters/slideMaster1.xml" Id="R1296deea9ed445f8" /><Relationship Type="http://schemas.openxmlformats.org/officeDocument/2006/relationships/notesMaster" Target="/ppt/notesMasters/notesMaster1.xml" Id="Rcc107ac5a7734936" /><Relationship Type="http://schemas.openxmlformats.org/officeDocument/2006/relationships/presProps" Target="/ppt/presProps.xml" Id="Rb8dfe3f1d4e64aff" /><Relationship Type="http://schemas.openxmlformats.org/officeDocument/2006/relationships/tableStyles" Target="/ppt/tableStyles.xml" Id="Rd17c77ffe2854185" /><Relationship Type="http://schemas.openxmlformats.org/officeDocument/2006/relationships/slide" Target="/ppt/slides/slide1.xml" Id="R23596416841a44c3" /><Relationship Type="http://schemas.openxmlformats.org/officeDocument/2006/relationships/slide" Target="/ppt/slides/slide2.xml" Id="R1059448bac984a0b" /><Relationship Type="http://schemas.openxmlformats.org/officeDocument/2006/relationships/slide" Target="/ppt/slides/slide3.xml" Id="R466c163148154d76" /><Relationship Type="http://schemas.openxmlformats.org/officeDocument/2006/relationships/slide" Target="/ppt/slides/slide4.xml" Id="Re02cb7cb82ed4810" /><Relationship Type="http://schemas.openxmlformats.org/officeDocument/2006/relationships/slide" Target="/ppt/slides/slide5.xml" Id="R8c58a41cde4847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90cf37f28c47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bef11e7054487b" /><Relationship Type="http://schemas.openxmlformats.org/officeDocument/2006/relationships/notesMaster" Target="/ppt/notesMasters/notesMaster1.xml" Id="R4207823d149d40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4e3aeed98e49f0" /><Relationship Type="http://schemas.openxmlformats.org/officeDocument/2006/relationships/notesMaster" Target="/ppt/notesMasters/notesMaster1.xml" Id="Rfb7ae6756e934d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858e04b7454fbc" /><Relationship Type="http://schemas.openxmlformats.org/officeDocument/2006/relationships/notesMaster" Target="/ppt/notesMasters/notesMaster1.xml" Id="Rd7096a1f84f04b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b660fd61ee497b" /><Relationship Type="http://schemas.openxmlformats.org/officeDocument/2006/relationships/notesMaster" Target="/ppt/notesMasters/notesMaster1.xml" Id="R453650ac988948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269146290144d4" /><Relationship Type="http://schemas.openxmlformats.org/officeDocument/2006/relationships/notesMaster" Target="/ppt/notesMasters/notesMaster1.xml" Id="R4dca65eb288447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
            </a:r>
          </a:p>
          <a:p xmlns:a="http://schemas.openxmlformats.org/drawingml/2006/main">
            <a:r>
              <a:t>Introduce the purpose in one sentence, then focus on architecture. Python owns learning decisions and persistence; React handles interaction; Pyodide runs student code in a browser Worker. Name the module boundaries. Lecture03: functions, classes and modularity.</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0:35–1:35</a:t>
            </a:r>
          </a:p>
          <a:p xmlns:a="http://schemas.openxmlformats.org/drawingml/2006/main">
            <a:r>
              <a:t/>
            </a:r>
          </a:p>
          <a:p xmlns:a="http://schemas.openxmlformats.org/drawingml/2006/main">
            <a:r>
              <a:t>Use boundary_1 to illustrate deterministic grading: 5 &gt; 5 is False. Explain how dictionaries store questions, sets express prerequisites and passed concepts, and a tuple key ranks candidates. A wrong answer schedules ten minutes; independent due-time success advances stage. Connect each rule to a named LearningTests test. This is technical explanation, not a long product tour.</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1:35–2:40</a:t>
            </a:r>
          </a:p>
          <a:p xmlns:a="http://schemas.openxmlformats.org/drawingml/2006/main">
            <a:r>
              <a:t/>
            </a:r>
          </a:p>
          <a:p xmlns:a="http://schemas.openxmlformats.org/drawingml/2006/main">
            <a:r>
              <a:t>Explain one concrete goal: “Review my mistake and open related practice.” The model receives tools, selects one, sees Python’s observation and chooses its next step. Highlight that this differs from keyword routing. Python rejects unknown tools, uninspected IDs and locked lessons. State the per-turn limits: up to five model requests, eight tool executions and one opening. Refer to the multi-round and rejected-action-recovery tests. A brief prepared tool trace may be shown within this timing, but do not spend the slot waiting for a network request.</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2:40–3:40</a:t>
            </a:r>
          </a:p>
          <a:p xmlns:a="http://schemas.openxmlformats.org/drawingml/2006/main">
            <a:r>
              <a:t/>
            </a:r>
          </a:p>
          <a:p xmlns:a="http://schemas.openxmlformats.org/drawingml/2006/main">
            <a:r>
              <a:t>Explain the two-tab stale-revision example and why atomic writes avoid silent replacement. Distinguish backend learning Python from browser learner Python. A Worker can be terminated without executing student source in the web server. Explain diagnosis evidence checks and shared 60/hour allowance. Match the claims to SQLite/HTTP/AST/AI tests. These are implemented engineering choices, not claims of production security certification.</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3:40–4:45</a:t>
            </a:r>
          </a:p>
          <a:p xmlns:a="http://schemas.openxmlformats.org/drawingml/2006/main">
            <a:r>
              <a:t/>
            </a:r>
          </a:p>
          <a:p xmlns:a="http://schemas.openxmlformats.org/drawingml/2006/main">
            <a:r>
              <a:t>Show the source of the test count and one SPEC-to-test mapping. Explain that automated model tests are simulated and live teaching quality is a separate evaluation. State how AI assisted implementation, tests and documentation. Describe code review evidence using reviewer, code location, finding, resolution and recheck; show actual records if completed. Conclude that the technical contribution is an inspectable Python learning engine plus a bounded tool-using Agent. Finish at 4:45, preserving 15 seconds within the five-minute slot for transitions. Answer instructor/classmate questions afterwards as directed.</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ac4849dea640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963a708a524e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ac68fd57cd4a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380dbfd62d44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000464460948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418139f96144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7EABE0-21BB-4CAA-86A9-71FD8C6A623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058226-F20D-42A3-9776-55A8CE2532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3A28D0-DA1D-40E0-B11C-FDFE4E7115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B6BEE-9D2A-46B8-BCDA-FC5A943777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549BED6-7AC1-4A64-A98E-70ECC151DA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675428B-1546-4C85-A216-3F5B1B972D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C08BD3-D393-441C-83E2-EB2CA1C131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240679C-D317-4C74-9BFA-F6751FCE2CF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496E00-6936-4E0C-B504-5F2733F326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BB9F1D-B482-4D0E-B73C-ACD4CBDA10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c28b3dc8e3441b" /><Relationship Type="http://schemas.openxmlformats.org/officeDocument/2006/relationships/slideLayout" Target="/ppt/slideLayouts/slideLayout1.xml" Id="Rbc5c84576d2d4e54" /><Relationship Type="http://schemas.openxmlformats.org/officeDocument/2006/relationships/slideLayout" Target="/ppt/slideLayouts/slideLayout2.xml" Id="R991b10849f074472" /><Relationship Type="http://schemas.openxmlformats.org/officeDocument/2006/relationships/slideLayout" Target="/ppt/slideLayouts/slideLayout3.xml" Id="Ra04a84e815c44a1b" /><Relationship Type="http://schemas.openxmlformats.org/officeDocument/2006/relationships/slideLayout" Target="/ppt/slideLayouts/slideLayout4.xml" Id="R8f9ab2e603184b3a" /><Relationship Type="http://schemas.openxmlformats.org/officeDocument/2006/relationships/slideLayout" Target="/ppt/slideLayouts/slideLayout5.xml" Id="R0e0cc5f1ee6f4e0e" /><Relationship Type="http://schemas.openxmlformats.org/officeDocument/2006/relationships/slideLayout" Target="/ppt/slideLayouts/slideLayout6.xml" Id="R7274c858bc4a49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5c84576d2d4e54"/>
    <p:sldLayoutId xmlns:r="http://schemas.openxmlformats.org/officeDocument/2006/relationships" id="2147483650" r:id="R991b10849f074472"/>
    <p:sldLayoutId xmlns:r="http://schemas.openxmlformats.org/officeDocument/2006/relationships" id="2147483651" r:id="Ra04a84e815c44a1b"/>
    <p:sldLayoutId xmlns:r="http://schemas.openxmlformats.org/officeDocument/2006/relationships" id="2147483652" r:id="R8f9ab2e603184b3a"/>
    <p:sldLayoutId xmlns:r="http://schemas.openxmlformats.org/officeDocument/2006/relationships" id="2147483653" r:id="R0e0cc5f1ee6f4e0e"/>
    <p:sldLayoutId xmlns:r="http://schemas.openxmlformats.org/officeDocument/2006/relationships" id="2147483654" r:id="R7274c858bc4a49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42b342a3d54d18" /><Relationship Type="http://schemas.openxmlformats.org/officeDocument/2006/relationships/notesSlide" Target="/ppt/notesSlides/notesSlide1.xml" Id="Raa86b32fd2454d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142d32240f42f7" /><Relationship Type="http://schemas.openxmlformats.org/officeDocument/2006/relationships/notesSlide" Target="/ppt/notesSlides/notesSlide2.xml" Id="R471d08871d304d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fbb2428d0a4abd" /><Relationship Type="http://schemas.openxmlformats.org/officeDocument/2006/relationships/image" Target="/ppt/media/image.jpeg" Id="Rfa3b09e85d9041c5" /><Relationship Type="http://schemas.openxmlformats.org/officeDocument/2006/relationships/notesSlide" Target="/ppt/notesSlides/notesSlide3.xml" Id="R62c123a4990641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b27247d508413e" /><Relationship Type="http://schemas.openxmlformats.org/officeDocument/2006/relationships/notesSlide" Target="/ppt/notesSlides/notesSlide4.xml" Id="R376c415c63a140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0f457ea32048e8" /><Relationship Type="http://schemas.openxmlformats.org/officeDocument/2006/relationships/notesSlide" Target="/ppt/notesSlides/notesSlide5.xml" Id="R5abd62c678604e01" /></Relationships>
</file>

<file path=ppt/slides/slide1.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A943BA-96C5-466F-BAD4-40EF5AF2C9D5}"/>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Python architecture for learning decisions</a:t>
            </a:r>
          </a:p>
        </p:txBody>
      </p:sp>
      <p:sp>
        <p:nvSpPr>
          <p:cNvPr id="2" name="">
            <a:extLst xmlns:a="http://schemas.openxmlformats.org/drawingml/2006/main">
              <a:ext uri="{FF2B5EF4-FFF2-40B4-BE49-F238E27FC236}">
                <a16:creationId xmlns:a16="http://schemas.microsoft.com/office/drawing/2014/main" id="{FFB8ABCA-8DF3-4679-9F86-D93919B0F785}"/>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Group 8 · PySteps · Connecting mistakes to the next learning activity.</a:t>
            </a:r>
          </a:p>
        </p:txBody>
      </p:sp>
      <p:graphicFrame>
        <p:nvGraphicFramePr>
          <p:cNvPr id="3" name="">
            <a:extLst xmlns:a="http://schemas.openxmlformats.org/drawingml/2006/main">
              <a:ext uri="{FF2B5EF4-FFF2-40B4-BE49-F238E27FC236}">
                <a16:creationId xmlns:a16="http://schemas.microsoft.com/office/drawing/2014/main" id="{DF52B7FD-E644-4715-BC26-B433E58ED77A}"/>
              </a:ext>
            </a:extLst>
          </p:cNvPr>
          <p:cNvGraphicFramePr/>
          <p:nvPr/>
        </p:nvGraphicFramePr>
        <p:xfrm>
          <a:off xmlns:a="http://schemas.openxmlformats.org/drawingml/2006/main" x="628650" y="2371725"/>
          <a:ext xmlns:a="http://schemas.openxmlformats.org/drawingml/2006/main" cx="10953750" cy="3381375"/>
        </p:xfrm>
        <a:graphic xmlns:a="http://schemas.openxmlformats.org/drawingml/2006/main">
          <a:graphicData uri="http://schemas.openxmlformats.org/drawingml/2006/table">
            <a:tbl>
              <a:tblPr/>
              <a:tblGrid>
                <a:gridCol w="3333750"/>
                <a:gridCol w="7620000"/>
              </a:tblGrid>
              <a:tr h="676275">
                <a:tc>
                  <a:txBody>
                    <a:bodyPr lIns="152400" tIns="152400" rIns="152400" bIns="152400"/>
                    <a:lstStyle/>
                    <a:p>
                      <a:r>
                        <a:rPr sz="1950" b="1">
                          <a:solidFill>
                            <a:srgbClr val="FFFFFF"/>
                          </a:solidFill>
                          <a:latin typeface="Hiragino Sans GB"/>
                          <a:ea typeface="Hiragino Sans GB"/>
                          <a:cs typeface="Hiragino Sans GB"/>
                        </a:rPr>
                        <a:t>Layer</a:t>
                      </a:r>
                    </a:p>
                  </a:txBody>
                  <a:tcPr marL="91440" marR="91440" marT="45720" marB="45720" anchor="ctr">
                    <a:lnL w="9525">
                      <a:solidFill>
                        <a:srgbClr val="D8CEE7"/>
                      </a:solidFill>
                      <a:prstDash val="solid"/>
                    </a:lnL>
                    <a:lnR w="9525">
                      <a:solidFill>
                        <a:srgbClr val="D8CEE7"/>
                      </a:solidFill>
                      <a:prstDash val="solid"/>
                    </a:lnR>
                    <a:lnT w="9525">
                      <a:solidFill>
                        <a:srgbClr val="D8CEE7"/>
                      </a:solidFill>
                      <a:prstDash val="solid"/>
                    </a:lnT>
                    <a:lnB w="9525">
                      <a:solidFill>
                        <a:srgbClr val="D8CEE7"/>
                      </a:solidFill>
                      <a:prstDash val="solid"/>
                    </a:lnB>
                    <a:solidFill>
                      <a:srgbClr val="7651C7"/>
                    </a:solidFill>
                  </a:tcPr>
                </a:tc>
                <a:tc>
                  <a:txBody>
                    <a:bodyPr lIns="152400" tIns="152400" rIns="152400" bIns="152400"/>
                    <a:lstStyle/>
                    <a:p>
                      <a:r>
                        <a:rPr sz="1950" b="1">
                          <a:solidFill>
                            <a:srgbClr val="FFFFFF"/>
                          </a:solidFill>
                          <a:latin typeface="Hiragino Sans GB"/>
                          <a:ea typeface="Hiragino Sans GB"/>
                          <a:cs typeface="Hiragino Sans GB"/>
                        </a:rPr>
                        <a:t>Technical responsibility</a:t>
                      </a:r>
                    </a:p>
                  </a:txBody>
                  <a:tcPr marL="91440" marR="91440" marT="45720" marB="45720" anchor="ctr">
                    <a:lnR w="9525">
                      <a:solidFill>
                        <a:srgbClr val="D8CEE7"/>
                      </a:solidFill>
                      <a:prstDash val="solid"/>
                    </a:lnR>
                    <a:lnT w="9525">
                      <a:solidFill>
                        <a:srgbClr val="D8CEE7"/>
                      </a:solidFill>
                      <a:prstDash val="solid"/>
                    </a:lnT>
                    <a:lnB w="9525">
                      <a:solidFill>
                        <a:srgbClr val="D8CEE7"/>
                      </a:solidFill>
                      <a:prstDash val="solid"/>
                    </a:lnB>
                    <a:solidFill>
                      <a:srgbClr val="7651C7"/>
                    </a:solidFill>
                  </a:tcPr>
                </a:tc>
              </a:tr>
              <a:tr h="676275">
                <a:tc>
                  <a:txBody>
                    <a:bodyPr lIns="152400" tIns="152400" rIns="152400" bIns="152400"/>
                    <a:lstStyle/>
                    <a:p>
                      <a:r>
                        <a:rPr sz="1950" b="0">
                          <a:solidFill>
                            <a:srgbClr val="211B36"/>
                          </a:solidFill>
                          <a:latin typeface="Hiragino Sans GB"/>
                          <a:ea typeface="Hiragino Sans GB"/>
                          <a:cs typeface="Hiragino Sans GB"/>
                        </a:rPr>
                        <a:t>LearningEngine</a:t>
                      </a:r>
                    </a:p>
                  </a:txBody>
                  <a:tcPr marL="91440" marR="91440" marT="45720" marB="45720" anchor="ctr">
                    <a:lnL w="9525">
                      <a:solidFill>
                        <a:srgbClr val="D8CEE7"/>
                      </a:solidFill>
                      <a:prstDash val="solid"/>
                    </a:lnL>
                    <a:lnR w="9525">
                      <a:solidFill>
                        <a:srgbClr val="D8CEE7"/>
                      </a:solidFill>
                      <a:prstDash val="solid"/>
                    </a:lnR>
                    <a:lnB w="9525">
                      <a:solidFill>
                        <a:srgbClr val="D8CEE7"/>
                      </a:solidFill>
                      <a:prstDash val="solid"/>
                    </a:lnB>
                    <a:solidFill>
                      <a:srgbClr val="FFFFFF"/>
                    </a:solidFill>
                  </a:tcPr>
                </a:tc>
                <a:tc>
                  <a:txBody>
                    <a:bodyPr lIns="152400" tIns="152400" rIns="152400" bIns="152400"/>
                    <a:lstStyle/>
                    <a:p>
                      <a:r>
                        <a:rPr sz="1950" b="0">
                          <a:solidFill>
                            <a:srgbClr val="211B36"/>
                          </a:solidFill>
                          <a:latin typeface="Hiragino Sans GB"/>
                          <a:ea typeface="Hiragino Sans GB"/>
                          <a:cs typeface="Hiragino Sans GB"/>
                        </a:rPr>
                        <a:t>Grading, courses, ranking, review</a:t>
                      </a:r>
                    </a:p>
                  </a:txBody>
                  <a:tcPr marL="91440" marR="91440" marT="45720" marB="45720" anchor="ctr">
                    <a:lnR w="9525">
                      <a:solidFill>
                        <a:srgbClr val="D8CEE7"/>
                      </a:solidFill>
                      <a:prstDash val="solid"/>
                    </a:lnR>
                    <a:lnB w="9525">
                      <a:solidFill>
                        <a:srgbClr val="D8CEE7"/>
                      </a:solidFill>
                      <a:prstDash val="solid"/>
                    </a:lnB>
                    <a:solidFill>
                      <a:srgbClr val="FFFFFF"/>
                    </a:solidFill>
                  </a:tcPr>
                </a:tc>
              </a:tr>
              <a:tr h="676275">
                <a:tc>
                  <a:txBody>
                    <a:bodyPr lIns="152400" tIns="152400" rIns="152400" bIns="152400"/>
                    <a:lstStyle/>
                    <a:p>
                      <a:r>
                        <a:rPr sz="1950" b="0">
                          <a:solidFill>
                            <a:srgbClr val="211B36"/>
                          </a:solidFill>
                          <a:latin typeface="Hiragino Sans GB"/>
                          <a:ea typeface="Hiragino Sans GB"/>
                          <a:cs typeface="Hiragino Sans GB"/>
                        </a:rPr>
                        <a:t>HTTP + SQLite</a:t>
                      </a:r>
                    </a:p>
                  </a:txBody>
                  <a:tcPr marL="91440" marR="91440" marT="45720" marB="45720" anchor="ctr">
                    <a:lnL w="9525">
                      <a:solidFill>
                        <a:srgbClr val="D8CEE7"/>
                      </a:solidFill>
                      <a:prstDash val="solid"/>
                    </a:lnL>
                    <a:lnR w="9525">
                      <a:solidFill>
                        <a:srgbClr val="D8CEE7"/>
                      </a:solidFill>
                      <a:prstDash val="solid"/>
                    </a:lnR>
                    <a:lnB w="9525">
                      <a:solidFill>
                        <a:srgbClr val="D8CEE7"/>
                      </a:solidFill>
                      <a:prstDash val="solid"/>
                    </a:lnB>
                    <a:solidFill>
                      <a:srgbClr val="EBE4F6"/>
                    </a:solidFill>
                  </a:tcPr>
                </a:tc>
                <a:tc>
                  <a:txBody>
                    <a:bodyPr lIns="152400" tIns="152400" rIns="152400" bIns="152400"/>
                    <a:lstStyle/>
                    <a:p>
                      <a:r>
                        <a:rPr sz="1950" b="0">
                          <a:solidFill>
                            <a:srgbClr val="211B36"/>
                          </a:solidFill>
                          <a:latin typeface="Hiragino Sans GB"/>
                          <a:ea typeface="Hiragino Sans GB"/>
                          <a:cs typeface="Hiragino Sans GB"/>
                        </a:rPr>
                        <a:t>JSON endpoints, sessions, revision writes</a:t>
                      </a:r>
                    </a:p>
                  </a:txBody>
                  <a:tcPr marL="91440" marR="91440" marT="45720" marB="45720" anchor="ctr">
                    <a:lnR w="9525">
                      <a:solidFill>
                        <a:srgbClr val="D8CEE7"/>
                      </a:solidFill>
                      <a:prstDash val="solid"/>
                    </a:lnR>
                    <a:lnB w="9525">
                      <a:solidFill>
                        <a:srgbClr val="D8CEE7"/>
                      </a:solidFill>
                      <a:prstDash val="solid"/>
                    </a:lnB>
                    <a:solidFill>
                      <a:srgbClr val="EBE4F6"/>
                    </a:solidFill>
                  </a:tcPr>
                </a:tc>
              </a:tr>
              <a:tr h="676275">
                <a:tc>
                  <a:txBody>
                    <a:bodyPr lIns="152400" tIns="152400" rIns="152400" bIns="152400"/>
                    <a:lstStyle/>
                    <a:p>
                      <a:r>
                        <a:rPr sz="1950" b="0">
                          <a:solidFill>
                            <a:srgbClr val="211B36"/>
                          </a:solidFill>
                          <a:latin typeface="Hiragino Sans GB"/>
                          <a:ea typeface="Hiragino Sans GB"/>
                          <a:cs typeface="Hiragino Sans GB"/>
                        </a:rPr>
                        <a:t>Diagnosis + Agent</a:t>
                      </a:r>
                    </a:p>
                  </a:txBody>
                  <a:tcPr marL="91440" marR="91440" marT="45720" marB="45720" anchor="ctr">
                    <a:lnL w="9525">
                      <a:solidFill>
                        <a:srgbClr val="D8CEE7"/>
                      </a:solidFill>
                      <a:prstDash val="solid"/>
                    </a:lnL>
                    <a:lnR w="9525">
                      <a:solidFill>
                        <a:srgbClr val="D8CEE7"/>
                      </a:solidFill>
                      <a:prstDash val="solid"/>
                    </a:lnR>
                    <a:lnB w="9525">
                      <a:solidFill>
                        <a:srgbClr val="D8CEE7"/>
                      </a:solidFill>
                      <a:prstDash val="solid"/>
                    </a:lnB>
                    <a:solidFill>
                      <a:srgbClr val="FFFFFF"/>
                    </a:solidFill>
                  </a:tcPr>
                </a:tc>
                <a:tc>
                  <a:txBody>
                    <a:bodyPr lIns="152400" tIns="152400" rIns="152400" bIns="152400"/>
                    <a:lstStyle/>
                    <a:p>
                      <a:r>
                        <a:rPr sz="1950" b="0">
                          <a:solidFill>
                            <a:srgbClr val="211B36"/>
                          </a:solidFill>
                          <a:latin typeface="Hiragino Sans GB"/>
                          <a:ea typeface="Hiragino Sans GB"/>
                          <a:cs typeface="Hiragino Sans GB"/>
                        </a:rPr>
                        <a:t>Validated model output and tool loop</a:t>
                      </a:r>
                    </a:p>
                  </a:txBody>
                  <a:tcPr marL="91440" marR="91440" marT="45720" marB="45720" anchor="ctr">
                    <a:lnR w="9525">
                      <a:solidFill>
                        <a:srgbClr val="D8CEE7"/>
                      </a:solidFill>
                      <a:prstDash val="solid"/>
                    </a:lnR>
                    <a:lnB w="9525">
                      <a:solidFill>
                        <a:srgbClr val="D8CEE7"/>
                      </a:solidFill>
                      <a:prstDash val="solid"/>
                    </a:lnB>
                    <a:solidFill>
                      <a:srgbClr val="FFFFFF"/>
                    </a:solidFill>
                  </a:tcPr>
                </a:tc>
              </a:tr>
              <a:tr h="676275">
                <a:tc>
                  <a:txBody>
                    <a:bodyPr lIns="152400" tIns="152400" rIns="152400" bIns="152400"/>
                    <a:lstStyle/>
                    <a:p>
                      <a:r>
                        <a:rPr sz="1950" b="0">
                          <a:solidFill>
                            <a:srgbClr val="211B36"/>
                          </a:solidFill>
                          <a:latin typeface="Hiragino Sans GB"/>
                          <a:ea typeface="Hiragino Sans GB"/>
                          <a:cs typeface="Hiragino Sans GB"/>
                        </a:rPr>
                        <a:t>Browser Worker</a:t>
                      </a:r>
                    </a:p>
                  </a:txBody>
                  <a:tcPr marL="91440" marR="91440" marT="45720" marB="45720" anchor="ctr">
                    <a:lnL w="9525">
                      <a:solidFill>
                        <a:srgbClr val="D8CEE7"/>
                      </a:solidFill>
                      <a:prstDash val="solid"/>
                    </a:lnL>
                    <a:lnR w="9525">
                      <a:solidFill>
                        <a:srgbClr val="D8CEE7"/>
                      </a:solidFill>
                      <a:prstDash val="solid"/>
                    </a:lnR>
                    <a:lnB w="9525">
                      <a:solidFill>
                        <a:srgbClr val="D8CEE7"/>
                      </a:solidFill>
                      <a:prstDash val="solid"/>
                    </a:lnB>
                    <a:solidFill>
                      <a:srgbClr val="EBE4F6"/>
                    </a:solidFill>
                  </a:tcPr>
                </a:tc>
                <a:tc>
                  <a:txBody>
                    <a:bodyPr lIns="152400" tIns="152400" rIns="152400" bIns="152400"/>
                    <a:lstStyle/>
                    <a:p>
                      <a:r>
                        <a:rPr sz="1950" b="0">
                          <a:solidFill>
                            <a:srgbClr val="211B36"/>
                          </a:solidFill>
                          <a:latin typeface="Hiragino Sans GB"/>
                          <a:ea typeface="Hiragino Sans GB"/>
                          <a:cs typeface="Hiragino Sans GB"/>
                        </a:rPr>
                        <a:t>AST validation and task execution</a:t>
                      </a:r>
                    </a:p>
                  </a:txBody>
                  <a:tcPr marL="91440" marR="91440" marT="45720" marB="45720" anchor="ctr">
                    <a:lnR w="9525">
                      <a:solidFill>
                        <a:srgbClr val="D8CEE7"/>
                      </a:solidFill>
                      <a:prstDash val="solid"/>
                    </a:lnR>
                    <a:lnB w="9525">
                      <a:solidFill>
                        <a:srgbClr val="D8CEE7"/>
                      </a:solidFill>
                      <a:prstDash val="solid"/>
                    </a:lnB>
                    <a:solidFill>
                      <a:srgbClr val="EBE4F6"/>
                    </a:solidFill>
                  </a:tcPr>
                </a:tc>
              </a:tr>
            </a:tbl>
          </a:graphicData>
        </a:graphic>
      </p:graphicFrame>
      <p:sp>
        <p:nvSpPr>
          <p:cNvPr id="4" name="">
            <a:extLst xmlns:a="http://schemas.openxmlformats.org/drawingml/2006/main">
              <a:ext uri="{FF2B5EF4-FFF2-40B4-BE49-F238E27FC236}">
                <a16:creationId xmlns:a16="http://schemas.microsoft.com/office/drawing/2014/main" id="{57F86291-0169-46B9-ACBA-266C0F260042}"/>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0:00–0:35</a:t>
            </a:r>
          </a:p>
        </p:txBody>
      </p:sp>
      <p:sp>
        <p:nvSpPr>
          <p:cNvPr id="5" name="">
            <a:extLst xmlns:a="http://schemas.openxmlformats.org/drawingml/2006/main">
              <a:ext uri="{FF2B5EF4-FFF2-40B4-BE49-F238E27FC236}">
                <a16:creationId xmlns:a16="http://schemas.microsoft.com/office/drawing/2014/main" id="{966B52DF-CAC4-4D96-B3B4-4A075273A9F2}"/>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1 / 5</a:t>
            </a:r>
          </a:p>
        </p:txBody>
      </p:sp>
    </p:spTree>
    <p:extLst>
      <p:ext uri="{BB962C8B-B14F-4D97-AF65-F5344CB8AC3E}">
        <p14:creationId xmlns:p14="http://schemas.microsoft.com/office/powerpoint/2010/main" val="2096785509"/>
      </p:ext>
    </p:extLst>
  </p:cSld>
</p:sld>
</file>

<file path=ppt/slides/slide2.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776EF4-CD4E-4C98-B1F5-6359F4C0BEAE}"/>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Learning rules as testable Python functions</a:t>
            </a:r>
          </a:p>
        </p:txBody>
      </p:sp>
      <p:sp>
        <p:nvSpPr>
          <p:cNvPr id="2" name="">
            <a:extLst xmlns:a="http://schemas.openxmlformats.org/drawingml/2006/main">
              <a:ext uri="{FF2B5EF4-FFF2-40B4-BE49-F238E27FC236}">
                <a16:creationId xmlns:a16="http://schemas.microsoft.com/office/drawing/2014/main" id="{1C81F939-8256-46D7-AEE2-49FBA06B5C19}"/>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Lecture03: collections and sorting · Lecture06: explicit expected behaviour</a:t>
            </a:r>
          </a:p>
        </p:txBody>
      </p:sp>
      <p:sp>
        <p:nvSpPr>
          <p:cNvPr id="3" name="">
            <a:extLst xmlns:a="http://schemas.openxmlformats.org/drawingml/2006/main">
              <a:ext uri="{FF2B5EF4-FFF2-40B4-BE49-F238E27FC236}">
                <a16:creationId xmlns:a16="http://schemas.microsoft.com/office/drawing/2014/main" id="{5DE14268-CB16-44FA-A14F-6C53B5E80402}"/>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Assessment and progression</a:t>
            </a:r>
          </a:p>
        </p:txBody>
      </p:sp>
      <p:sp>
        <p:nvSpPr>
          <p:cNvPr id="4" name="">
            <a:extLst xmlns:a="http://schemas.openxmlformats.org/drawingml/2006/main">
              <a:ext uri="{FF2B5EF4-FFF2-40B4-BE49-F238E27FC236}">
                <a16:creationId xmlns:a16="http://schemas.microsoft.com/office/drawing/2014/main" id="{6B93F3F5-F576-41AE-B481-1FE8A8ABAB10}"/>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Fixed keys; reading + two unhinted course answers.</a:t>
            </a:r>
          </a:p>
        </p:txBody>
      </p:sp>
      <p:sp>
        <p:nvSpPr>
          <p:cNvPr id="5" name="">
            <a:extLst xmlns:a="http://schemas.openxmlformats.org/drawingml/2006/main">
              <a:ext uri="{FF2B5EF4-FFF2-40B4-BE49-F238E27FC236}">
                <a16:creationId xmlns:a16="http://schemas.microsoft.com/office/drawing/2014/main" id="{F486CC49-052F-4A9F-9775-7ED2875F071A}"/>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Ranking</a:t>
            </a:r>
          </a:p>
        </p:txBody>
      </p:sp>
      <p:sp>
        <p:nvSpPr>
          <p:cNvPr id="6" name="">
            <a:extLst xmlns:a="http://schemas.openxmlformats.org/drawingml/2006/main">
              <a:ext uri="{FF2B5EF4-FFF2-40B4-BE49-F238E27FC236}">
                <a16:creationId xmlns:a16="http://schemas.microsoft.com/office/drawing/2014/main" id="{748DFB54-C670-450A-9D64-BF9F2EB4E8E5}"/>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Target unseen → due → other unseen → seen; exclude current item.</a:t>
            </a:r>
          </a:p>
        </p:txBody>
      </p:sp>
      <p:sp>
        <p:nvSpPr>
          <p:cNvPr id="7" name="">
            <a:extLst xmlns:a="http://schemas.openxmlformats.org/drawingml/2006/main">
              <a:ext uri="{FF2B5EF4-FFF2-40B4-BE49-F238E27FC236}">
                <a16:creationId xmlns:a16="http://schemas.microsoft.com/office/drawing/2014/main" id="{0DCDB557-01B4-4291-8CD1-D2A36D140E3F}"/>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Review</a:t>
            </a:r>
          </a:p>
        </p:txBody>
      </p:sp>
      <p:sp>
        <p:nvSpPr>
          <p:cNvPr id="8" name="">
            <a:extLst xmlns:a="http://schemas.openxmlformats.org/drawingml/2006/main">
              <a:ext uri="{FF2B5EF4-FFF2-40B4-BE49-F238E27FC236}">
                <a16:creationId xmlns:a16="http://schemas.microsoft.com/office/drawing/2014/main" id="{A533A5BF-CB94-4044-A781-83E2596F87DC}"/>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Wrong: +10 min; due success: 1/3/7/14/30 days.</a:t>
            </a:r>
          </a:p>
        </p:txBody>
      </p:sp>
      <p:sp>
        <p:nvSpPr>
          <p:cNvPr id="9" name="">
            <a:extLst xmlns:a="http://schemas.openxmlformats.org/drawingml/2006/main">
              <a:ext uri="{FF2B5EF4-FFF2-40B4-BE49-F238E27FC236}">
                <a16:creationId xmlns:a16="http://schemas.microsoft.com/office/drawing/2014/main" id="{8AF47EC4-BBDA-4A2E-8792-37047EAB8E20}"/>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0:35–1:35</a:t>
            </a:r>
          </a:p>
        </p:txBody>
      </p:sp>
      <p:sp>
        <p:nvSpPr>
          <p:cNvPr id="10" name="">
            <a:extLst xmlns:a="http://schemas.openxmlformats.org/drawingml/2006/main">
              <a:ext uri="{FF2B5EF4-FFF2-40B4-BE49-F238E27FC236}">
                <a16:creationId xmlns:a16="http://schemas.microsoft.com/office/drawing/2014/main" id="{1FB39C1F-83DE-439D-A3DC-3C5C7ADE4320}"/>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2 / 5</a:t>
            </a:r>
          </a:p>
        </p:txBody>
      </p:sp>
    </p:spTree>
    <p:extLst>
      <p:ext uri="{BB962C8B-B14F-4D97-AF65-F5344CB8AC3E}">
        <p14:creationId xmlns:p14="http://schemas.microsoft.com/office/powerpoint/2010/main" val="881077111"/>
      </p:ext>
    </p:extLst>
  </p:cSld>
</p:sld>
</file>

<file path=ppt/slides/slide3.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BA8590-B7BE-4AAD-901D-C0B198914B68}"/>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PiPo model/tool/observation loop</a:t>
            </a:r>
          </a:p>
        </p:txBody>
      </p:sp>
      <p:sp>
        <p:nvSpPr>
          <p:cNvPr id="2" name="">
            <a:extLst xmlns:a="http://schemas.openxmlformats.org/drawingml/2006/main">
              <a:ext uri="{FF2B5EF4-FFF2-40B4-BE49-F238E27FC236}">
                <a16:creationId xmlns:a16="http://schemas.microsoft.com/office/drawing/2014/main" id="{0314CD50-BA87-4E6A-9EB3-ACEB309E84B5}"/>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Lecture05: model + harness and repeated tool use</a:t>
            </a:r>
          </a:p>
        </p:txBody>
      </p:sp>
      <p:sp>
        <p:nvSpPr>
          <p:cNvPr id="3" name="">
            <a:extLst xmlns:a="http://schemas.openxmlformats.org/drawingml/2006/main">
              <a:ext uri="{FF2B5EF4-FFF2-40B4-BE49-F238E27FC236}">
                <a16:creationId xmlns:a16="http://schemas.microsoft.com/office/drawing/2014/main" id="{B1BCE94A-CE14-4146-B2FB-0CF54E8FFA42}"/>
              </a:ext>
            </a:extLst>
          </p:cNvPr>
          <p:cNvSpPr>
            <a:spLocks xmlns:a="http://schemas.openxmlformats.org/drawingml/2006/main" noGrp="1"/>
          </p:cNvSpPr>
          <p:nvPr/>
        </p:nvSpPr>
        <p:spPr>
          <a:xfrm xmlns:a="http://schemas.openxmlformats.org/drawingml/2006/main">
            <a:off x="628650" y="2371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Model decision</a:t>
            </a:r>
          </a:p>
        </p:txBody>
      </p:sp>
      <p:sp>
        <p:nvSpPr>
          <p:cNvPr id="4" name="">
            <a:extLst xmlns:a="http://schemas.openxmlformats.org/drawingml/2006/main">
              <a:ext uri="{FF2B5EF4-FFF2-40B4-BE49-F238E27FC236}">
                <a16:creationId xmlns:a16="http://schemas.microsoft.com/office/drawing/2014/main" id="{551F5E96-7994-469F-BE1B-34AC58FEE4D8}"/>
              </a:ext>
            </a:extLst>
          </p:cNvPr>
          <p:cNvSpPr>
            <a:spLocks xmlns:a="http://schemas.openxmlformats.org/drawingml/2006/main" noGrp="1"/>
          </p:cNvSpPr>
          <p:nvPr/>
        </p:nvSpPr>
        <p:spPr>
          <a:xfrm xmlns:a="http://schemas.openxmlformats.org/drawingml/2006/main">
            <a:off x="628650" y="28098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Select progress, lesson, recommend, coding or open_content.</a:t>
            </a:r>
          </a:p>
        </p:txBody>
      </p:sp>
      <p:sp>
        <p:nvSpPr>
          <p:cNvPr id="5" name="">
            <a:extLst xmlns:a="http://schemas.openxmlformats.org/drawingml/2006/main">
              <a:ext uri="{FF2B5EF4-FFF2-40B4-BE49-F238E27FC236}">
                <a16:creationId xmlns:a16="http://schemas.microsoft.com/office/drawing/2014/main" id="{8D6478FC-9EB4-4927-B951-8EE95F0827F5}"/>
              </a:ext>
            </a:extLst>
          </p:cNvPr>
          <p:cNvSpPr>
            <a:spLocks xmlns:a="http://schemas.openxmlformats.org/drawingml/2006/main" noGrp="1"/>
          </p:cNvSpPr>
          <p:nvPr/>
        </p:nvSpPr>
        <p:spPr>
          <a:xfrm xmlns:a="http://schemas.openxmlformats.org/drawingml/2006/main">
            <a:off x="628650" y="35433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Python execution</a:t>
            </a:r>
          </a:p>
        </p:txBody>
      </p:sp>
      <p:sp>
        <p:nvSpPr>
          <p:cNvPr id="6" name="">
            <a:extLst xmlns:a="http://schemas.openxmlformats.org/drawingml/2006/main">
              <a:ext uri="{FF2B5EF4-FFF2-40B4-BE49-F238E27FC236}">
                <a16:creationId xmlns:a16="http://schemas.microsoft.com/office/drawing/2014/main" id="{4BF15783-1C57-4D25-A058-91351C663CCD}"/>
              </a:ext>
            </a:extLst>
          </p:cNvPr>
          <p:cNvSpPr>
            <a:spLocks xmlns:a="http://schemas.openxmlformats.org/drawingml/2006/main" noGrp="1"/>
          </p:cNvSpPr>
          <p:nvPr/>
        </p:nvSpPr>
        <p:spPr>
          <a:xfrm xmlns:a="http://schemas.openxmlformats.org/drawingml/2006/main">
            <a:off x="628650" y="39814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Validate arguments, inspect content and return an observation.</a:t>
            </a:r>
          </a:p>
        </p:txBody>
      </p:sp>
      <p:sp>
        <p:nvSpPr>
          <p:cNvPr id="7" name="">
            <a:extLst xmlns:a="http://schemas.openxmlformats.org/drawingml/2006/main">
              <a:ext uri="{FF2B5EF4-FFF2-40B4-BE49-F238E27FC236}">
                <a16:creationId xmlns:a16="http://schemas.microsoft.com/office/drawing/2014/main" id="{02726D58-6713-4FC0-9237-28DB0F326D20}"/>
              </a:ext>
            </a:extLst>
          </p:cNvPr>
          <p:cNvSpPr>
            <a:spLocks xmlns:a="http://schemas.openxmlformats.org/drawingml/2006/main" noGrp="1"/>
          </p:cNvSpPr>
          <p:nvPr/>
        </p:nvSpPr>
        <p:spPr>
          <a:xfrm xmlns:a="http://schemas.openxmlformats.org/drawingml/2006/main">
            <a:off x="628650" y="47148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Next decision</a:t>
            </a:r>
          </a:p>
        </p:txBody>
      </p:sp>
      <p:sp>
        <p:nvSpPr>
          <p:cNvPr id="8" name="">
            <a:extLst xmlns:a="http://schemas.openxmlformats.org/drawingml/2006/main">
              <a:ext uri="{FF2B5EF4-FFF2-40B4-BE49-F238E27FC236}">
                <a16:creationId xmlns:a16="http://schemas.microsoft.com/office/drawing/2014/main" id="{D8D95BF5-01D3-496B-865E-980783D4B78A}"/>
              </a:ext>
            </a:extLst>
          </p:cNvPr>
          <p:cNvSpPr>
            <a:spLocks xmlns:a="http://schemas.openxmlformats.org/drawingml/2006/main" noGrp="1"/>
          </p:cNvSpPr>
          <p:nvPr/>
        </p:nvSpPr>
        <p:spPr>
          <a:xfrm xmlns:a="http://schemas.openxmlformats.org/drawingml/2006/main">
            <a:off x="628650" y="51530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Continue the loop, then return one validated opening.</a:t>
            </a:r>
          </a:p>
        </p:txBody>
      </p:sp>
      <p:pic>
        <p:nvPicPr>
          <p:cNvPr id="9" name="">
            <a:extLst xmlns:a="http://schemas.openxmlformats.org/drawingml/2006/main">
              <a:ext uri="{FF2B5EF4-FFF2-40B4-BE49-F238E27FC236}">
                <a16:creationId xmlns:a16="http://schemas.microsoft.com/office/drawing/2014/main" id="{26093D1F-51D6-4BFB-931D-C0324A446363}"/>
              </a:ext>
            </a:extLst>
          </p:cNvPr>
          <p:cNvPicPr>
            <a:picLocks xmlns:a="http://schemas.openxmlformats.org/drawingml/2006/main" noChangeAspect="1"/>
          </p:cNvPicPr>
          <p:nvPr/>
        </p:nvPicPr>
        <p:blipFill>
          <a:blip xmlns:r="http://schemas.openxmlformats.org/officeDocument/2006/relationships" xmlns:a="http://schemas.openxmlformats.org/drawingml/2006/main" r:embed="Rfa3b09e85d9041c5"/>
          <a:srcRect xmlns:a="http://schemas.openxmlformats.org/drawingml/2006/main" l="68775" t="11517" r="2767" b="20084"/>
          <a:stretch xmlns:a="http://schemas.openxmlformats.org/drawingml/2006/main"/>
        </p:blipFill>
        <p:spPr>
          <a:xfrm xmlns:a="http://schemas.openxmlformats.org/drawingml/2006/main">
            <a:off x="8105775" y="2238375"/>
            <a:ext cx="3438525" cy="3905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251292B-3AA7-4FC4-B4F2-FA0105FC7219}"/>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1:35–2:40</a:t>
            </a:r>
          </a:p>
        </p:txBody>
      </p:sp>
      <p:sp>
        <p:nvSpPr>
          <p:cNvPr id="11" name="">
            <a:extLst xmlns:a="http://schemas.openxmlformats.org/drawingml/2006/main">
              <a:ext uri="{FF2B5EF4-FFF2-40B4-BE49-F238E27FC236}">
                <a16:creationId xmlns:a16="http://schemas.microsoft.com/office/drawing/2014/main" id="{A73C8ABE-8D1F-413B-A261-EA115C161F11}"/>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3 / 5</a:t>
            </a:r>
          </a:p>
        </p:txBody>
      </p:sp>
    </p:spTree>
    <p:extLst>
      <p:ext uri="{BB962C8B-B14F-4D97-AF65-F5344CB8AC3E}">
        <p14:creationId xmlns:p14="http://schemas.microsoft.com/office/powerpoint/2010/main" val="1523948836"/>
      </p:ext>
    </p:extLst>
  </p:cSld>
</p:sld>
</file>

<file path=ppt/slides/slide4.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DC24EF-D63E-4FF2-9B92-291766869658}"/>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Reliable records and controlled code execution</a:t>
            </a:r>
          </a:p>
        </p:txBody>
      </p:sp>
      <p:sp>
        <p:nvSpPr>
          <p:cNvPr id="2" name="">
            <a:extLst xmlns:a="http://schemas.openxmlformats.org/drawingml/2006/main">
              <a:ext uri="{FF2B5EF4-FFF2-40B4-BE49-F238E27FC236}">
                <a16:creationId xmlns:a16="http://schemas.microsoft.com/office/drawing/2014/main" id="{9B8B4B6C-B700-4257-B0B9-CEE9C3672452}"/>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Transactions and process boundaries protect the learning workflow.</a:t>
            </a:r>
          </a:p>
        </p:txBody>
      </p:sp>
      <p:sp>
        <p:nvSpPr>
          <p:cNvPr id="3" name="">
            <a:extLst xmlns:a="http://schemas.openxmlformats.org/drawingml/2006/main">
              <a:ext uri="{FF2B5EF4-FFF2-40B4-BE49-F238E27FC236}">
                <a16:creationId xmlns:a16="http://schemas.microsoft.com/office/drawing/2014/main" id="{CC1FC4C5-441B-40D4-9E6F-D7437452AD40}"/>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SQLite</a:t>
            </a:r>
          </a:p>
        </p:txBody>
      </p:sp>
      <p:sp>
        <p:nvSpPr>
          <p:cNvPr id="4" name="">
            <a:extLst xmlns:a="http://schemas.openxmlformats.org/drawingml/2006/main">
              <a:ext uri="{FF2B5EF4-FFF2-40B4-BE49-F238E27FC236}">
                <a16:creationId xmlns:a16="http://schemas.microsoft.com/office/drawing/2014/main" id="{0618A171-AD81-4031-BCBF-10F181C3E91A}"/>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BEGIN IMMEDIATE + revision comparison; stale writes return 409.</a:t>
            </a:r>
          </a:p>
        </p:txBody>
      </p:sp>
      <p:sp>
        <p:nvSpPr>
          <p:cNvPr id="5" name="">
            <a:extLst xmlns:a="http://schemas.openxmlformats.org/drawingml/2006/main">
              <a:ext uri="{FF2B5EF4-FFF2-40B4-BE49-F238E27FC236}">
                <a16:creationId xmlns:a16="http://schemas.microsoft.com/office/drawing/2014/main" id="{4DBAB0CF-AF5E-445B-8170-AE3D6D3CE09C}"/>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Browser Python</a:t>
            </a:r>
          </a:p>
        </p:txBody>
      </p:sp>
      <p:sp>
        <p:nvSpPr>
          <p:cNvPr id="6" name="">
            <a:extLst xmlns:a="http://schemas.openxmlformats.org/drawingml/2006/main">
              <a:ext uri="{FF2B5EF4-FFF2-40B4-BE49-F238E27FC236}">
                <a16:creationId xmlns:a16="http://schemas.microsoft.com/office/drawing/2014/main" id="{4559553F-864F-453A-9938-F8388410CA22}"/>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AST allowlist, disposable Worker and 4-second execution threshold.</a:t>
            </a:r>
          </a:p>
        </p:txBody>
      </p:sp>
      <p:sp>
        <p:nvSpPr>
          <p:cNvPr id="7" name="">
            <a:extLst xmlns:a="http://schemas.openxmlformats.org/drawingml/2006/main">
              <a:ext uri="{FF2B5EF4-FFF2-40B4-BE49-F238E27FC236}">
                <a16:creationId xmlns:a16="http://schemas.microsoft.com/office/drawing/2014/main" id="{9567DB0C-F767-43B4-83F5-68BE9890E1E3}"/>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Model boundary</a:t>
            </a:r>
          </a:p>
        </p:txBody>
      </p:sp>
      <p:sp>
        <p:nvSpPr>
          <p:cNvPr id="8" name="">
            <a:extLst xmlns:a="http://schemas.openxmlformats.org/drawingml/2006/main">
              <a:ext uri="{FF2B5EF4-FFF2-40B4-BE49-F238E27FC236}">
                <a16:creationId xmlns:a16="http://schemas.microsoft.com/office/drawing/2014/main" id="{9229A562-6ABB-477E-B382-8E644AA581F3}"/>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Team authorisation, fixed answer keys and shared request allowance.</a:t>
            </a:r>
          </a:p>
        </p:txBody>
      </p:sp>
      <p:sp>
        <p:nvSpPr>
          <p:cNvPr id="9" name="">
            <a:extLst xmlns:a="http://schemas.openxmlformats.org/drawingml/2006/main">
              <a:ext uri="{FF2B5EF4-FFF2-40B4-BE49-F238E27FC236}">
                <a16:creationId xmlns:a16="http://schemas.microsoft.com/office/drawing/2014/main" id="{57F99BD6-DEAA-46D4-97FD-8A3B42255DED}"/>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2:40–3:40</a:t>
            </a:r>
          </a:p>
        </p:txBody>
      </p:sp>
      <p:sp>
        <p:nvSpPr>
          <p:cNvPr id="10" name="">
            <a:extLst xmlns:a="http://schemas.openxmlformats.org/drawingml/2006/main">
              <a:ext uri="{FF2B5EF4-FFF2-40B4-BE49-F238E27FC236}">
                <a16:creationId xmlns:a16="http://schemas.microsoft.com/office/drawing/2014/main" id="{80987319-9E7D-4302-B016-244839B0E14D}"/>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4 / 5</a:t>
            </a:r>
          </a:p>
        </p:txBody>
      </p:sp>
    </p:spTree>
    <p:extLst>
      <p:ext uri="{BB962C8B-B14F-4D97-AF65-F5344CB8AC3E}">
        <p14:creationId xmlns:p14="http://schemas.microsoft.com/office/powerpoint/2010/main" val="482947044"/>
      </p:ext>
    </p:extLst>
  </p:cSld>
</p:sld>
</file>

<file path=ppt/slides/slide5.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B8FCF0-2F0C-4E9C-9150-5839008CB08E}"/>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Requirements, tests and review evidence</a:t>
            </a:r>
          </a:p>
        </p:txBody>
      </p:sp>
      <p:sp>
        <p:nvSpPr>
          <p:cNvPr id="2" name="">
            <a:extLst xmlns:a="http://schemas.openxmlformats.org/drawingml/2006/main">
              <a:ext uri="{FF2B5EF4-FFF2-40B4-BE49-F238E27FC236}">
                <a16:creationId xmlns:a16="http://schemas.microsoft.com/office/drawing/2014/main" id="{5358F9E3-B203-4AA3-9E09-24F49581A070}"/>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Lecture04: SRS and review · Lecture06: matching verification</a:t>
            </a:r>
          </a:p>
        </p:txBody>
      </p:sp>
      <p:sp>
        <p:nvSpPr>
          <p:cNvPr id="3" name="">
            <a:extLst xmlns:a="http://schemas.openxmlformats.org/drawingml/2006/main">
              <a:ext uri="{FF2B5EF4-FFF2-40B4-BE49-F238E27FC236}">
                <a16:creationId xmlns:a16="http://schemas.microsoft.com/office/drawing/2014/main" id="{52FCAF86-43B2-4EE8-B1A2-E7C78FC8FC14}"/>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Regression</a:t>
            </a:r>
          </a:p>
        </p:txBody>
      </p:sp>
      <p:sp>
        <p:nvSpPr>
          <p:cNvPr id="4" name="">
            <a:extLst xmlns:a="http://schemas.openxmlformats.org/drawingml/2006/main">
              <a:ext uri="{FF2B5EF4-FFF2-40B4-BE49-F238E27FC236}">
                <a16:creationId xmlns:a16="http://schemas.microsoft.com/office/drawing/2014/main" id="{932589F7-9474-4FED-9EED-3CBB626AA472}"/>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38 passed; 32 project checks + 6 independent examples.</a:t>
            </a:r>
          </a:p>
        </p:txBody>
      </p:sp>
      <p:sp>
        <p:nvSpPr>
          <p:cNvPr id="5" name="">
            <a:extLst xmlns:a="http://schemas.openxmlformats.org/drawingml/2006/main">
              <a:ext uri="{FF2B5EF4-FFF2-40B4-BE49-F238E27FC236}">
                <a16:creationId xmlns:a16="http://schemas.microsoft.com/office/drawing/2014/main" id="{397E4B25-CD5F-46A1-8D63-A3B02783E837}"/>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PiPo evidence</a:t>
            </a:r>
          </a:p>
        </p:txBody>
      </p:sp>
      <p:sp>
        <p:nvSpPr>
          <p:cNvPr id="6" name="">
            <a:extLst xmlns:a="http://schemas.openxmlformats.org/drawingml/2006/main">
              <a:ext uri="{FF2B5EF4-FFF2-40B4-BE49-F238E27FC236}">
                <a16:creationId xmlns:a16="http://schemas.microsoft.com/office/drawing/2014/main" id="{D40B19F6-920B-4BD4-A610-627CD5F21B38}"/>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10 methods: tools, recovery, boundaries, timeout and budgets.</a:t>
            </a:r>
          </a:p>
        </p:txBody>
      </p:sp>
      <p:sp>
        <p:nvSpPr>
          <p:cNvPr id="7" name="">
            <a:extLst xmlns:a="http://schemas.openxmlformats.org/drawingml/2006/main">
              <a:ext uri="{FF2B5EF4-FFF2-40B4-BE49-F238E27FC236}">
                <a16:creationId xmlns:a16="http://schemas.microsoft.com/office/drawing/2014/main" id="{512396BC-72EC-48F9-B2E1-FD2D41B76513}"/>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Quality process</a:t>
            </a:r>
          </a:p>
        </p:txBody>
      </p:sp>
      <p:sp>
        <p:nvSpPr>
          <p:cNvPr id="8" name="">
            <a:extLst xmlns:a="http://schemas.openxmlformats.org/drawingml/2006/main">
              <a:ext uri="{FF2B5EF4-FFF2-40B4-BE49-F238E27FC236}">
                <a16:creationId xmlns:a16="http://schemas.microsoft.com/office/drawing/2014/main" id="{14CD54E8-1B38-4695-8C63-932FAFD1500F}"/>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Requirement → test → implementation → regression → code review.</a:t>
            </a:r>
          </a:p>
        </p:txBody>
      </p:sp>
      <p:sp>
        <p:nvSpPr>
          <p:cNvPr id="9" name="">
            <a:extLst xmlns:a="http://schemas.openxmlformats.org/drawingml/2006/main">
              <a:ext uri="{FF2B5EF4-FFF2-40B4-BE49-F238E27FC236}">
                <a16:creationId xmlns:a16="http://schemas.microsoft.com/office/drawing/2014/main" id="{0B882790-AFD0-4A39-8A93-D489913ACE8C}"/>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3:40–4:45</a:t>
            </a:r>
          </a:p>
        </p:txBody>
      </p:sp>
      <p:sp>
        <p:nvSpPr>
          <p:cNvPr id="10" name="">
            <a:extLst xmlns:a="http://schemas.openxmlformats.org/drawingml/2006/main">
              <a:ext uri="{FF2B5EF4-FFF2-40B4-BE49-F238E27FC236}">
                <a16:creationId xmlns:a16="http://schemas.microsoft.com/office/drawing/2014/main" id="{222113CE-E59F-4382-9FB0-3B9ACCBDE83C}"/>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5 / 5</a:t>
            </a:r>
          </a:p>
        </p:txBody>
      </p:sp>
    </p:spTree>
    <p:extLst>
      <p:ext uri="{BB962C8B-B14F-4D97-AF65-F5344CB8AC3E}">
        <p14:creationId xmlns:p14="http://schemas.microsoft.com/office/powerpoint/2010/main" val="9576332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2026-10-29T03:22:40.5190000Z</dcterms:created>
  <dcterms:modified xsi:type="dcterms:W3CDTF">2026-10-29T03:22:40.5190000Z</dcterms:modified>
</coreProperties>
</file>