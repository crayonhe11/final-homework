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f9be1b5774bbd" /><Relationship Type="http://schemas.openxmlformats.org/officeDocument/2006/relationships/extended-properties" Target="/docProps/app.xml" Id="Rfbbe65a5fed346c7" /><Relationship Type="http://schemas.openxmlformats.org/officeDocument/2006/relationships/officeDocument" Target="/ppt/presentation.xml" Id="R31903ffe30d3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46a87d1a14639"/>
  </p:sldMasterIdLst>
  <p:notesMasterIdLst>
    <p:notesMasterId xmlns:r="http://schemas.openxmlformats.org/officeDocument/2006/relationships" r:id="Rb66c479e36ba4717"/>
  </p:notesMasterIdLst>
  <p:sldIdLst>
    <p:sldId xmlns:r="http://schemas.openxmlformats.org/officeDocument/2006/relationships" id="256" r:id="R4b22be85f4e845ca"/>
    <p:sldId xmlns:r="http://schemas.openxmlformats.org/officeDocument/2006/relationships" id="257" r:id="R823d2988209f420d"/>
    <p:sldId xmlns:r="http://schemas.openxmlformats.org/officeDocument/2006/relationships" id="258" r:id="Rc84c616f8ff5432d"/>
    <p:sldId xmlns:r="http://schemas.openxmlformats.org/officeDocument/2006/relationships" id="259" r:id="R393e730e47854177"/>
    <p:sldId xmlns:r="http://schemas.openxmlformats.org/officeDocument/2006/relationships" id="260" r:id="R942bb4d3144240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17131c79464771" /><Relationship Type="http://schemas.openxmlformats.org/officeDocument/2006/relationships/slideMaster" Target="/ppt/slideMasters/slideMaster1.xml" Id="R8ea46a87d1a14639" /><Relationship Type="http://schemas.openxmlformats.org/officeDocument/2006/relationships/notesMaster" Target="/ppt/notesMasters/notesMaster1.xml" Id="Rb66c479e36ba4717" /><Relationship Type="http://schemas.openxmlformats.org/officeDocument/2006/relationships/presProps" Target="/ppt/presProps.xml" Id="Rdf3b19e00b7c4855" /><Relationship Type="http://schemas.openxmlformats.org/officeDocument/2006/relationships/tableStyles" Target="/ppt/tableStyles.xml" Id="R8b08196756574235" /><Relationship Type="http://schemas.openxmlformats.org/officeDocument/2006/relationships/slide" Target="/ppt/slides/slide1.xml" Id="R4b22be85f4e845ca" /><Relationship Type="http://schemas.openxmlformats.org/officeDocument/2006/relationships/slide" Target="/ppt/slides/slide2.xml" Id="R823d2988209f420d" /><Relationship Type="http://schemas.openxmlformats.org/officeDocument/2006/relationships/slide" Target="/ppt/slides/slide3.xml" Id="Rc84c616f8ff5432d" /><Relationship Type="http://schemas.openxmlformats.org/officeDocument/2006/relationships/slide" Target="/ppt/slides/slide4.xml" Id="R393e730e47854177" /><Relationship Type="http://schemas.openxmlformats.org/officeDocument/2006/relationships/slide" Target="/ppt/slides/slide5.xml" Id="R942bb4d3144240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152c25fec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ac23576384a94" /><Relationship Type="http://schemas.openxmlformats.org/officeDocument/2006/relationships/notesMaster" Target="/ppt/notesMasters/notesMaster1.xml" Id="R79105a7d1c25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d0e40052b48c9" /><Relationship Type="http://schemas.openxmlformats.org/officeDocument/2006/relationships/notesMaster" Target="/ppt/notesMasters/notesMaster1.xml" Id="R6e65ad9d4326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ab38e9c304ad6" /><Relationship Type="http://schemas.openxmlformats.org/officeDocument/2006/relationships/notesMaster" Target="/ppt/notesMasters/notesMaster1.xml" Id="Rc33a68a56b6c4f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29b02ecff4d38" /><Relationship Type="http://schemas.openxmlformats.org/officeDocument/2006/relationships/notesMaster" Target="/ppt/notesMasters/notesMaster1.xml" Id="R2df7ccd741a5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7812139c54ea7" /><Relationship Type="http://schemas.openxmlformats.org/officeDocument/2006/relationships/notesMaster" Target="/ppt/notesMasters/notesMaster1.xml" Id="Rf2fda3a9db71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用一句话介绍用途，立即进入架构。Python 负责学习决策与保存；React 负责交互；Pyodide 在浏览器 Worker 运行学生代码。说明模块边界，对应 Lecture03 的函数、类与模块化。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boundary_1 说明固定判分：5 &gt; 5 为 False。字典保存题目，集合表达前置和通过状态，排序元组决定推荐。错答十分钟后复习，到期独立成功推进阶段。对应 LearningTests 的具体测试。此处讲技术，不展开长时间产品导览。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1:35–2:40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使用具体目标“检查我的错题并打开相关练习”。模型拿到工具、选择工具、读取 Python 观察，再决定下一步，区别于关键词导航。Python 拒绝未知工具、未检查 ID 和锁课。说明每轮最多五次模型请求、八次工具、一次打开。对应多轮和拒绝后恢复测试。可短暂展示预先准备的真实工具记录，但不占用本段等待网络。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以两个页面旧版本保存说明原子写入如何避免静默覆盖。区分后端学习规则和浏览器学生代码，终止 Worker 不需把学生代码放到网页服务器执行。说明诊断引用检查及共享每小时六十次额度，对应 SQLite、HTTP、AST 和 AI 测试。这些是实现机制，不作生产安全认证主张。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3:40–4:45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展示测试计数来源及一条 SPEC 到测试的映射。说明自动模型测试使用模拟响应，真实教学质量另评估。交代 AI 辅助实现、测试与文档。代码审查用审查人、位置、问题、处理与复核作为证据，有实际完成记录时展示。结尾强调可检查的 Python 学习引擎和受限工具 Agent。4:45 结束，五分钟内留十五秒转场；按课堂安排回答师生问题。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26779d30245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cb532ba4545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a683dff0244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2f656bfa94f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42b67b72d4b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f06a2fe854f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243D16-6F22-4909-A239-3AA0078D5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8E8670-C71F-429F-9E89-659F08B34A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E0E2A8-C589-4EA8-AEB5-E84011BAE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9A11D-1361-47A0-8FA0-F8351C62B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1854D9-72B7-4BFB-8369-E9224D44AC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822C91-BB19-4419-B3AA-AF651B4AB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D25283-E9CA-4BC3-9A0F-1FD9F1434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E9E330-491D-48E4-9CD8-8983BAD6F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B82D19-8A4F-4E76-A134-C020D317D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B87B19-BCEA-4548-932C-A22C3B95B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d0f11a78d4a43" /><Relationship Type="http://schemas.openxmlformats.org/officeDocument/2006/relationships/slideLayout" Target="/ppt/slideLayouts/slideLayout1.xml" Id="R950a58142ad147de" /><Relationship Type="http://schemas.openxmlformats.org/officeDocument/2006/relationships/slideLayout" Target="/ppt/slideLayouts/slideLayout2.xml" Id="R9794995f3cc747df" /><Relationship Type="http://schemas.openxmlformats.org/officeDocument/2006/relationships/slideLayout" Target="/ppt/slideLayouts/slideLayout3.xml" Id="R62290b79f50d449f" /><Relationship Type="http://schemas.openxmlformats.org/officeDocument/2006/relationships/slideLayout" Target="/ppt/slideLayouts/slideLayout4.xml" Id="R3ec3574bb8b8490b" /><Relationship Type="http://schemas.openxmlformats.org/officeDocument/2006/relationships/slideLayout" Target="/ppt/slideLayouts/slideLayout5.xml" Id="R766fe9b12b5c4cd0" /><Relationship Type="http://schemas.openxmlformats.org/officeDocument/2006/relationships/slideLayout" Target="/ppt/slideLayouts/slideLayout6.xml" Id="Re6479575b64d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a58142ad147de"/>
    <p:sldLayoutId xmlns:r="http://schemas.openxmlformats.org/officeDocument/2006/relationships" id="2147483650" r:id="R9794995f3cc747df"/>
    <p:sldLayoutId xmlns:r="http://schemas.openxmlformats.org/officeDocument/2006/relationships" id="2147483651" r:id="R62290b79f50d449f"/>
    <p:sldLayoutId xmlns:r="http://schemas.openxmlformats.org/officeDocument/2006/relationships" id="2147483652" r:id="R3ec3574bb8b8490b"/>
    <p:sldLayoutId xmlns:r="http://schemas.openxmlformats.org/officeDocument/2006/relationships" id="2147483653" r:id="R766fe9b12b5c4cd0"/>
    <p:sldLayoutId xmlns:r="http://schemas.openxmlformats.org/officeDocument/2006/relationships" id="2147483654" r:id="Re6479575b64d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93bd2d20f4141" /><Relationship Type="http://schemas.openxmlformats.org/officeDocument/2006/relationships/notesSlide" Target="/ppt/notesSlides/notesSlide1.xml" Id="Rf68131649582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29fed2e35495b" /><Relationship Type="http://schemas.openxmlformats.org/officeDocument/2006/relationships/notesSlide" Target="/ppt/notesSlides/notesSlide2.xml" Id="Rf1bcc1435373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d134cf1cb4820" /><Relationship Type="http://schemas.openxmlformats.org/officeDocument/2006/relationships/image" Target="/ppt/media/image.jpeg" Id="R3e7751e189ed4170" /><Relationship Type="http://schemas.openxmlformats.org/officeDocument/2006/relationships/notesSlide" Target="/ppt/notesSlides/notesSlide3.xml" Id="R26d11d6a6a7347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a4e9fbc70429c" /><Relationship Type="http://schemas.openxmlformats.org/officeDocument/2006/relationships/notesSlide" Target="/ppt/notesSlides/notesSlide4.xml" Id="Rb222bfed5050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3bf24fa524659" /><Relationship Type="http://schemas.openxmlformats.org/officeDocument/2006/relationships/notesSlide" Target="/ppt/notesSlides/notesSlide5.xml" Id="R5cf7f9f0e1874e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7A3AF-29C2-4B7B-B38F-48A0E0C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支持学习决策的 Python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37378-AFFC-4F53-A79E-63DFDFD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PySteps · 把一次错答连接到下一项活动。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20BBA-DC58-4B01-8CF1-F6FEB498A55F}"/>
              </a:ext>
            </a:extLst>
          </p:cNvPr>
          <p:cNvGraphicFramePr/>
          <p:nvPr/>
        </p:nvGraphicFramePr>
        <p:xfrm>
          <a:off xmlns:a="http://schemas.openxmlformats.org/drawingml/2006/main" x="628650" y="2371725"/>
          <a:ext xmlns:a="http://schemas.openxmlformats.org/drawingml/2006/main" cx="1095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CEE7"/>
                      </a:solidFill>
                      <a:prstDash val="solid"/>
                    </a:lnL>
                    <a:lnR w="9525">
                      <a:solidFill>
                        <a:srgbClr val="D8CEE7"/>
                      </a:solidFill>
                      <a:prstDash val="solid"/>
                    </a:lnR>
                    <a:lnT w="9525">
                      <a:solidFill>
                        <a:srgbClr val="D8CEE7"/>
                      </a:solidFill>
                      <a:prstDash val="solid"/>
                    </a:lnT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7651C7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关键技术职责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CEE7"/>
                      </a:solidFill>
                      <a:prstDash val="solid"/>
                    </a:lnR>
                    <a:lnT w="9525">
                      <a:solidFill>
                        <a:srgbClr val="D8CEE7"/>
                      </a:solidFill>
                      <a:prstDash val="solid"/>
                    </a:lnT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7651C7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LearningEngine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CEE7"/>
                      </a:solidFill>
                      <a:prstDash val="solid"/>
                    </a:lnL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判分、课程、推荐、复习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 与 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CEE7"/>
                      </a:solidFill>
                      <a:prstDash val="solid"/>
                    </a:lnL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EBE4F6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JSON 接口、会话与版本写入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EBE4F6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诊断与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CEE7"/>
                      </a:solidFill>
                      <a:prstDash val="solid"/>
                    </a:lnL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模型输出校验和工具循环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 Worker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CEE7"/>
                      </a:solidFill>
                      <a:prstDash val="solid"/>
                    </a:lnL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EBE4F6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950" b="0">
                          <a:solidFill>
                            <a:srgbClr val="211B3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AST 校验与任务执行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CEE7"/>
                      </a:solidFill>
                      <a:prstDash val="solid"/>
                    </a:lnR>
                    <a:lnB w="9525">
                      <a:solidFill>
                        <a:srgbClr val="D8CEE7"/>
                      </a:solidFill>
                      <a:prstDash val="solid"/>
                    </a:lnB>
                    <a:solidFill>
                      <a:srgbClr val="EBE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8A288-31C5-4D0B-8F0D-D3F0F20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0:00–0:35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D6434-D34C-4B67-9823-908085FA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792045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B0B1E-7D8C-4A95-9417-82139B4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把学习规则写成可测试的 Python 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73274-CD0E-453D-AB26-7FBE7E7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Lecture03：容器与排序 · Lecture06：明确的预期行为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73600-1FF5-48B8-A1CD-D6096E08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判分与进度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4436-6314-40CB-A871-618AA223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固定答案；阅读后独立、无提示答对两道课程题。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93661-2C9A-48B6-8960-5D79C3E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推荐排序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C9D6E-64BB-4954-9382-906E681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目标未做 → 到期 → 其他未做 → 已做，排除原题。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2DF04-2750-4168-BDBF-FAD4408D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复习时间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661F7-15A9-495F-BDE3-4B98DC1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错答 +10 分钟；到期答对按 1/3/7/14/30 天推进。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05917-917A-46D6-B856-49D9148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0:35–1:35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C497D-0A93-4D5B-93EF-180940C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2126887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302F-5D3B-479E-B632-E563956F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PiPo 的模型—工具—观察循环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23F2D-5AB5-4CDA-BCEE-7EB0CD8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Lecture05：模型、执行环境与多轮工具使用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A1D34-F8A5-4E3F-88A4-177B6F7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模型决策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CE1F7-2D0D-4D93-95B4-CD17D58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选择进度、导学、推荐、编程或打开工具。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5ECC4-9502-4364-B9DC-8F9B3D88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Python 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503DB-D59B-4FE9-877A-29FED64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检查参数和内容，返回工具观察。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2CB19-CF2B-4400-8FDF-80E1E794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继续决策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5A4DC-51A9-4257-99FD-8144A20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根据观察继续调用，打开一个有效内容。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201DE-4463-4024-AAE6-A3F0C748C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751e189ed4170"/>
          <a:srcRect xmlns:a="http://schemas.openxmlformats.org/drawingml/2006/main" l="68775" t="11517" r="2767" b="20084"/>
          <a:stretch xmlns:a="http://schemas.openxmlformats.org/drawingml/2006/main"/>
        </p:blipFill>
        <p:spPr>
          <a:xfrm xmlns:a="http://schemas.openxmlformats.org/drawingml/2006/main">
            <a:off x="8105775" y="2238375"/>
            <a:ext cx="3438525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E715B-33C7-48E1-B95A-74E9D9F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1:35–2:40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9C489-E551-4B4F-8494-C29BC8CD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227708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638C0-6CE7-490C-98FB-5707D6C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可靠保存与受控代码执行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9E7B7-3F2B-4C59-88CD-641586D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用事务和运行边界支持连续学习。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2039A-B930-4199-A4F2-6F58686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SQLite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F749F-BDC6-40D8-98C2-81A6AE8D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事务加版本比较；旧版本写入返回 409。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81CB0-EB03-4017-AB34-D5F9895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浏览器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34505-DDA7-47FF-8456-3FB36ECC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AST 白名单、可销毁 Worker 与 4 秒执行阈值。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B9881-1AD2-4519-9F69-C329CADD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模型边界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FAA6-9EC0-43AC-B265-99E9C54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团队授权、固定答案与共享请求额度。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B5AD3-FCB7-47E6-8068-6B7186C5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2:40–3:40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D1A3E-23F9-4474-BFED-28C7FD3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144439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52982-3B0C-4F60-8282-2B83A399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需求、测试与审查证据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980B6-463A-411D-98E6-DD57103E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Lecture04：SRS 与审查 · Lecture06：验证匹配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32FCD-6593-4D74-AAC2-8AA097E6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回归结果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19571-B6C9-410E-B8EE-234DA556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38 项通过；32 个项目测试与 6 个独立示例。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2D2B-ABBB-4B82-ADD7-D595A21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PiPo 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60300-CE33-4AA1-8148-4C800A7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10 项覆盖工具、恢复、边界、超时与次数。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77AD1-87BC-4EF0-BFC6-E76026D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质量流程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8CCA6-FF0F-423C-83BD-0AEBE592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需求 → 测试 → 实现 → 回归 → 代码审查。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6DDB0-BBAB-4637-833C-CEFA403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3:40–4:45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2AB8C-4B10-4E5D-8EF6-ECE58C9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162304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2026-10-29T03:22:43.4240000Z</dcterms:created>
  <dcterms:modified xsi:type="dcterms:W3CDTF">2026-10-29T03:22:43.4240000Z</dcterms:modified>
</coreProperties>
</file>