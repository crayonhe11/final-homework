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40a784647549e3" /><Relationship Type="http://schemas.openxmlformats.org/officeDocument/2006/relationships/extended-properties" Target="/docProps/app.xml" Id="Rf6d13aa893804ba1" /><Relationship Type="http://schemas.openxmlformats.org/officeDocument/2006/relationships/officeDocument" Target="/ppt/presentation.xml" Id="Rfa42a4b079ff46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c93eb8c48a447d"/>
  </p:sldMasterIdLst>
  <p:notesMasterIdLst>
    <p:notesMasterId xmlns:r="http://schemas.openxmlformats.org/officeDocument/2006/relationships" r:id="R638aa47c27c14858"/>
  </p:notesMasterIdLst>
  <p:sldIdLst>
    <p:sldId xmlns:r="http://schemas.openxmlformats.org/officeDocument/2006/relationships" id="256" r:id="R72464954aeaa4103"/>
    <p:sldId xmlns:r="http://schemas.openxmlformats.org/officeDocument/2006/relationships" id="257" r:id="Rf33fbce76dc84214"/>
    <p:sldId xmlns:r="http://schemas.openxmlformats.org/officeDocument/2006/relationships" id="258" r:id="R6ba248a416a444c9"/>
    <p:sldId xmlns:r="http://schemas.openxmlformats.org/officeDocument/2006/relationships" id="259" r:id="R0dcc0d4cbb7f44f3"/>
    <p:sldId xmlns:r="http://schemas.openxmlformats.org/officeDocument/2006/relationships" id="260" r:id="R2f1d0fc8f8964692"/>
    <p:sldId xmlns:r="http://schemas.openxmlformats.org/officeDocument/2006/relationships" id="261" r:id="Rdd358d189c5c436e"/>
    <p:sldId xmlns:r="http://schemas.openxmlformats.org/officeDocument/2006/relationships" id="262" r:id="R3d11c03647ed43b0"/>
    <p:sldId xmlns:r="http://schemas.openxmlformats.org/officeDocument/2006/relationships" id="263" r:id="R62f6179d963a498a"/>
    <p:sldId xmlns:r="http://schemas.openxmlformats.org/officeDocument/2006/relationships" id="264" r:id="R10a881371dee40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a7b3ad60254cf4" /><Relationship Type="http://schemas.openxmlformats.org/officeDocument/2006/relationships/slideMaster" Target="/ppt/slideMasters/slideMaster1.xml" Id="Ra9c93eb8c48a447d" /><Relationship Type="http://schemas.openxmlformats.org/officeDocument/2006/relationships/notesMaster" Target="/ppt/notesMasters/notesMaster1.xml" Id="R638aa47c27c14858" /><Relationship Type="http://schemas.openxmlformats.org/officeDocument/2006/relationships/presProps" Target="/ppt/presProps.xml" Id="R226d526a181a4d32" /><Relationship Type="http://schemas.openxmlformats.org/officeDocument/2006/relationships/tableStyles" Target="/ppt/tableStyles.xml" Id="R7527ff28c62544b7" /><Relationship Type="http://schemas.openxmlformats.org/officeDocument/2006/relationships/slide" Target="/ppt/slides/slide1.xml" Id="R72464954aeaa4103" /><Relationship Type="http://schemas.openxmlformats.org/officeDocument/2006/relationships/slide" Target="/ppt/slides/slide2.xml" Id="Rf33fbce76dc84214" /><Relationship Type="http://schemas.openxmlformats.org/officeDocument/2006/relationships/slide" Target="/ppt/slides/slide3.xml" Id="R6ba248a416a444c9" /><Relationship Type="http://schemas.openxmlformats.org/officeDocument/2006/relationships/slide" Target="/ppt/slides/slide4.xml" Id="R0dcc0d4cbb7f44f3" /><Relationship Type="http://schemas.openxmlformats.org/officeDocument/2006/relationships/slide" Target="/ppt/slides/slide5.xml" Id="R2f1d0fc8f8964692" /><Relationship Type="http://schemas.openxmlformats.org/officeDocument/2006/relationships/slide" Target="/ppt/slides/slide6.xml" Id="Rdd358d189c5c436e" /><Relationship Type="http://schemas.openxmlformats.org/officeDocument/2006/relationships/slide" Target="/ppt/slides/slide7.xml" Id="R3d11c03647ed43b0" /><Relationship Type="http://schemas.openxmlformats.org/officeDocument/2006/relationships/slide" Target="/ppt/slides/slide8.xml" Id="R62f6179d963a498a" /><Relationship Type="http://schemas.openxmlformats.org/officeDocument/2006/relationships/slide" Target="/ppt/slides/slide9.xml" Id="R10a881371dee40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1c8d261ee74a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f6373ed09c4459" /><Relationship Type="http://schemas.openxmlformats.org/officeDocument/2006/relationships/notesMaster" Target="/ppt/notesMasters/notesMaster1.xml" Id="Reea0f0d5853e42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5528f33d8b4530" /><Relationship Type="http://schemas.openxmlformats.org/officeDocument/2006/relationships/notesMaster" Target="/ppt/notesMasters/notesMaster1.xml" Id="R6a3fd9cb17f44d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f8a36b4ac64fc4" /><Relationship Type="http://schemas.openxmlformats.org/officeDocument/2006/relationships/notesMaster" Target="/ppt/notesMasters/notesMaster1.xml" Id="R5bcb9d6af29e4a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a0aaae478b44b8" /><Relationship Type="http://schemas.openxmlformats.org/officeDocument/2006/relationships/notesMaster" Target="/ppt/notesMasters/notesMaster1.xml" Id="Ra94acc5f0cd649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b22dcc599342d5" /><Relationship Type="http://schemas.openxmlformats.org/officeDocument/2006/relationships/notesMaster" Target="/ppt/notesMasters/notesMaster1.xml" Id="R3a32113d52184d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6e604477aa4cd1" /><Relationship Type="http://schemas.openxmlformats.org/officeDocument/2006/relationships/notesMaster" Target="/ppt/notesMasters/notesMaster1.xml" Id="R598af74af23d4e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4ed2654c724515" /><Relationship Type="http://schemas.openxmlformats.org/officeDocument/2006/relationships/notesMaster" Target="/ppt/notesMasters/notesMaster1.xml" Id="Rf743b93ffb1044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a2b4bb13054910" /><Relationship Type="http://schemas.openxmlformats.org/officeDocument/2006/relationships/notesMaster" Target="/ppt/notesMasters/notesMaster1.xml" Id="R329725f0011f49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b6960f63f947e4" /><Relationship Type="http://schemas.openxmlformats.org/officeDocument/2006/relationships/notesMaster" Target="/ppt/notesMasters/notesMaster1.xml" Id="R2cb8a472d0d64d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介绍第 8 组与学习者问题。开场：“PySteps 把错答连接到解释、相关练习和编程活动。PiPo 能读取学习记录并选择下一步。”说明本视频会现场操作应用。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来源：现有项目 backend 各模块、App.tsx、AssistantWidget.tsx、data/*.json、tests/*.py，2026 年 10 月 29 日回归记录；所提供 INT6181 项目要求 v2 第 3.4 节及 Lecture03–06。截图为现有应用界面，不是虚构的现场运行结果。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0:45–1:45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贯穿同一名学习者：把 &gt; 与 &gt;= 混淆，完成比较运算练习，再应用到 gate_status。说明现实场景：个人自学、教师带小组、课堂练习。三者都需要具体解释、下一项任务与保存记录。这是应用场景，不是虚构用户实验结果。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来源：现有项目 backend 各模块、App.tsx、AssistantWidget.tsx、data/*.json、tests/*.py，2026 年 10 月 29 日回归记录；所提供 INT6181 项目要求 v2 第 3.4 节及 Lecture03–06。截图为现有应用界面，不是虚构的现场运行结果。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1:45–3:15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先解释方法，再切到实际操作。Python 对照题库判分；课程通过需要阅读和两道无提示独立正确作答。推荐保持同章并排除刚做的原题。Kimi 诊断用于理由分析，PiPo 则使用独立的多轮模型—工具—观察循环。SQLite 用同一状态连接各项活动。指出易用设计：本地单命令启动、清晰语言切换、草稿保存和明确错误。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来源：现有项目 backend 各模块、App.tsx、AssistantWidget.tsx、data/*.json、tests/*.py，2026 年 10 月 29 日回归记录；所提供 INT6181 项目要求 v2 第 3.4 节及 Lecture03–06。截图为现有应用界面，不是虚构的现场运行结果。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3:15–5:30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本段切换到正在运行的应用，不停留在幻灯片。打开自由练习并选择 boundary_1（条件判断第一题）。写“我以为大于包含等于”，选择 B：True 后提交，展示固定错误判分、标准解析与提示。使用录制前已检查的真实模型请求分析，展示引用的学生理由，说明模型不更改答案。改成“我现在能区分 &gt; 和 &gt;=，相等时这条表达式为假”，重新分析，检查作答次数不增加。简短展示语言切换与明确标签。看到实际结果后再说明结果。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来源：现有项目 backend 各模块、App.tsx、AssistantWidget.tsx、data/*.json、tests/*.py，2026 年 10 月 29 日回归记录；所提供 INT6181 项目要求 v2 第 3.4 节及 Lecture03–06。截图为现有应用界面，不是虚构的现场运行结果。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5:30–8:00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继续在应用内操作。打开 PiPo，输入团队口令，避免露出模型密钥，发送本页目标。等待真实完成响应，展开工具记录，按实际调用说明，不背诵预设工具顺序。检查打开的是已检查、相关章节的有效题目，且不是 boundary_1。追问“先不告诉我答案，解释这里为什么要检查等于”。说明模型选择工具、Python 执行动作的分工。若账户模型无法完成，应显示实际错误，并在最终录制前准备可正常工作的账户；不把模拟测试当作现场模型输出。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来源：现有项目 backend 各模块、App.tsx、AssistantWidget.tsx、data/*.json、tests/*.py，2026 年 10 月 29 日回归记录；所提供 INT6181 项目要求 v2 第 3.4 节及 Lecture03–06。截图为现有应用界面，不是虚构的现场运行结果。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8:00–10:30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继续在应用内。进入趣味编程—星港通行证。讲解低于 20 需充能，否则检查通行证。先运行只有 pass 的函数，展示清楚的失败案例，再粘贴录制指南里的参考函数。运行示例检查前两例，再检查答案运行全部七例，突出 19/20 边界、通过结果及提交保存。短暂制造语法错误，展示错误行后恢复正确代码。说明浏览器 Worker 执行 Python，后端保存记录。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来源：现有项目 backend 各模块、App.tsx、AssistantWidget.tsx、data/*.json、tests/*.py，2026 年 10 月 29 日回归记录；所提供 INT6181 项目要求 v2 第 3.4 节及 Lecture03–06。截图为现有应用界面，不是虚构的现场运行结果。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10:30–11:30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继续在应用内。进入错题回顾，找到比较运算作答和修订理由；在学习进度展示编程完成与答题次数。刷新，确认同一浏览器空间记录仍在。导出 JSON，说明导入前需确认替换。用这些操作说明自学和教师带组的连续使用价值。录制时不清除真实用户 Cookie，也不向真实学习空间导入备份。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来源：现有项目 backend 各模块、App.tsx、AssistantWidget.tsx、data/*.json、tests/*.py，2026 年 10 月 29 日回归记录；所提供 INT6181 项目要求 v2 第 3.4 节及 Lecture03–06。截图为现有应用界面，不是虚构的现场运行结果。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11:30–13:30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回到幻灯片，短暂展示预先打开的 domain.py、agent.py、storage.py。对应 Lecture03 的函数、类与容器，Lecture04 的提示合同与 SRS，Lecture05 的模型与执行环境，Lecture06 的需求验证匹配。展示 2026 年 10 月 29 日回归记录：38 项通过，其中 10 项 PiPo。说明自动测试使用模拟模型，与刚才真实应用演示是不同证据。展示 SPEC 中一条需求及其测试名称。介绍审查人、位置、问题、处理、复核字段，有真实完成记录时展示。CI 说明为已配置的多平台流程，不虚构绿色运行。说明 AI 辅助实现、测试和文档。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来源：现有项目 backend 各模块、App.tsx、AssistantWidget.tsx、data/*.json、tests/*.py，2026 年 10 月 29 日回归记录；所提供 INT6181 项目要求 v2 第 3.4 节及 Lecture03–06。截图为现有应用界面，不是虚构的现场运行结果。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13:30–14:30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只总结观众已经看到的链条：错答解释、理由修订、PiPo 推荐、编程案例与保存记录。说明应用价值，不声称已测得成绩提升。感谢观众，14:30 前结束，距 15 分钟上限留 30 秒用于转场或模型等待。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来源：现有项目 backend 各模块、App.tsx、AssistantWidget.tsx、data/*.json、tests/*.py，2026 年 10 月 29 日回归记录；所提供 INT6181 项目要求 v2 第 3.4 节及 Lecture03–06。截图为现有应用界面，不是虚构的现场运行结果。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d2db62105d48d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34de37013845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c85facbd634e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cab4978cb343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d45ab5b84542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77a48bd80a46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FF31FC-0C7B-4892-827A-0E674AAE40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1FE999-214B-43D7-ABAE-1D3DC0EBB34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56A6635-DD02-47E6-9B44-C33972ECCC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1D2019-2153-40A9-AAF8-5636B416B1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8E77F9D-0857-480F-A483-DDF2B1AA09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E77017-AAA1-4C4E-AC91-E7BE35161C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1B120D-59E0-4EF6-9CB8-D4CA44ABCC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41AD4C2-DC5E-45A2-BEE1-CBA080EC64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EEFD70-8AB5-4ADE-ADF5-65B335DA4A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E80D1D-ACA3-4612-A1ED-68DA70A23F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ffa339967d4840" /><Relationship Type="http://schemas.openxmlformats.org/officeDocument/2006/relationships/slideLayout" Target="/ppt/slideLayouts/slideLayout1.xml" Id="R225465439f004d33" /><Relationship Type="http://schemas.openxmlformats.org/officeDocument/2006/relationships/slideLayout" Target="/ppt/slideLayouts/slideLayout2.xml" Id="R81248ddfdee74fde" /><Relationship Type="http://schemas.openxmlformats.org/officeDocument/2006/relationships/slideLayout" Target="/ppt/slideLayouts/slideLayout3.xml" Id="R722303213b90471a" /><Relationship Type="http://schemas.openxmlformats.org/officeDocument/2006/relationships/slideLayout" Target="/ppt/slideLayouts/slideLayout4.xml" Id="Rfea793660e9a49fe" /><Relationship Type="http://schemas.openxmlformats.org/officeDocument/2006/relationships/slideLayout" Target="/ppt/slideLayouts/slideLayout5.xml" Id="Ra202aac8fd474955" /><Relationship Type="http://schemas.openxmlformats.org/officeDocument/2006/relationships/slideLayout" Target="/ppt/slideLayouts/slideLayout6.xml" Id="R70a07bfde07940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5465439f004d33"/>
    <p:sldLayoutId xmlns:r="http://schemas.openxmlformats.org/officeDocument/2006/relationships" id="2147483650" r:id="R81248ddfdee74fde"/>
    <p:sldLayoutId xmlns:r="http://schemas.openxmlformats.org/officeDocument/2006/relationships" id="2147483651" r:id="R722303213b90471a"/>
    <p:sldLayoutId xmlns:r="http://schemas.openxmlformats.org/officeDocument/2006/relationships" id="2147483652" r:id="Rfea793660e9a49fe"/>
    <p:sldLayoutId xmlns:r="http://schemas.openxmlformats.org/officeDocument/2006/relationships" id="2147483653" r:id="Ra202aac8fd474955"/>
    <p:sldLayoutId xmlns:r="http://schemas.openxmlformats.org/officeDocument/2006/relationships" id="2147483654" r:id="R70a07bfde07940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0445f531cf49fd" /><Relationship Type="http://schemas.openxmlformats.org/officeDocument/2006/relationships/image" Target="/ppt/media/image.png" Id="R2d61d35c0c3b4847" /><Relationship Type="http://schemas.openxmlformats.org/officeDocument/2006/relationships/notesSlide" Target="/ppt/notesSlides/notesSlide1.xml" Id="Rd872d19882684b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dcb88686ac43e9" /><Relationship Type="http://schemas.openxmlformats.org/officeDocument/2006/relationships/notesSlide" Target="/ppt/notesSlides/notesSlide2.xml" Id="R2ac49d9031774f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0758489eef43c8" /><Relationship Type="http://schemas.openxmlformats.org/officeDocument/2006/relationships/image" Target="/ppt/media/image.jpeg" Id="Rd2e7ca8c2bf546e0" /><Relationship Type="http://schemas.openxmlformats.org/officeDocument/2006/relationships/notesSlide" Target="/ppt/notesSlides/notesSlide3.xml" Id="R1aba54b590084f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3046e7412d4e61" /><Relationship Type="http://schemas.openxmlformats.org/officeDocument/2006/relationships/notesSlide" Target="/ppt/notesSlides/notesSlide4.xml" Id="Ree475af4c08642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bc205b54c141c5" /><Relationship Type="http://schemas.openxmlformats.org/officeDocument/2006/relationships/image" Target="/ppt/media/image2.jpeg" Id="R59c3d316c1854b0f" /><Relationship Type="http://schemas.openxmlformats.org/officeDocument/2006/relationships/notesSlide" Target="/ppt/notesSlides/notesSlide5.xml" Id="Rfa2ae8f5e2ff4b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6cd80f8e8b4bde" /><Relationship Type="http://schemas.openxmlformats.org/officeDocument/2006/relationships/image" Target="/ppt/media/image3.jpeg" Id="R2e21d967158a478c" /><Relationship Type="http://schemas.openxmlformats.org/officeDocument/2006/relationships/notesSlide" Target="/ppt/notesSlides/notesSlide6.xml" Id="Rc0fd49fe08df4c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1da63bb65f46d9" /><Relationship Type="http://schemas.openxmlformats.org/officeDocument/2006/relationships/notesSlide" Target="/ppt/notesSlides/notesSlide7.xml" Id="Rd2d44ef2517242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103cf0a4b946fe" /><Relationship Type="http://schemas.openxmlformats.org/officeDocument/2006/relationships/notesSlide" Target="/ppt/notesSlides/notesSlide8.xml" Id="R6528840a40a34c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2c55a6d1754bea" /><Relationship Type="http://schemas.openxmlformats.org/officeDocument/2006/relationships/notesSlide" Target="/ppt/notesSlides/notesSlide9.xml" Id="R1ebf48ba4d0040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8154B-FDAE-469A-8404-6173AE5B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14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300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300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PySteps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1B462-3F9F-4E92-B3FD-B9D5D682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524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Python 学习与</a:t>
            </a:r>
          </a:p>
          <a:p xmlns:a="http://schemas.openxmlformats.org/drawingml/2006/main">
            <a:pPr>
              <a:defRPr sz="4050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PiPo 自主学习助手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75DF9-6DCD-46F5-A079-A65782B1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第 8 组 · 面向初学者的实用学习应用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E33E3-637C-46CC-B766-8E334A04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引言 · 问题 · 方法论 · 现场演示 · 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DE22C-43A3-4911-A62C-2DB4F043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视频汇报 · 目标时长 14:30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1CDE0-BABB-49E0-BEEC-98215DAD29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1d35c0c3b4847"/>
          <a:stretch xmlns:a="http://schemas.openxmlformats.org/drawingml/2006/main"/>
        </p:blipFill>
        <p:spPr>
          <a:xfrm xmlns:a="http://schemas.openxmlformats.org/drawingml/2006/main">
            <a:off x="8410575" y="1933575"/>
            <a:ext cx="2924175" cy="29241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6420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CC615-C738-4FD7-B5BE-F152AFDE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学习者面对的问题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20936-E261-440B-82F0-59D4B11D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知道答案错了，并不等于知道下一步该练什么。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01551-B358-4D43-9FC9-F8B87879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717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答错之后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137CA-A0E5-420E-B83E-44996CB1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我把哪条 Python 规则理解错了？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C8D55-76A3-4177-8103-821F7281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909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继续练习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AA66F-EE69-427A-AC55-E5B5D9E6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290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应该选择哪一道题？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DE0AC-226E-4F34-A8ED-77C6738A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再次学习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EE9BD-DECF-47F3-9C63-00C0D717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482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我完成了什么，哪些内容需要复习？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432DD-7F79-4270-A5A9-10A6841A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第 8 组 · 0:45–1:45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07723-19B5-4A16-9039-128C4E06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2 / 9</a:t>
            </a:r>
          </a:p>
        </p:txBody>
      </p:sp>
    </p:spTree>
    <p:extLst>
      <p:ext uri="{BB962C8B-B14F-4D97-AF65-F5344CB8AC3E}">
        <p14:creationId xmlns:p14="http://schemas.microsoft.com/office/powerpoint/2010/main" val="4100048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7A271-286A-4B46-AC03-EC7C3716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方法论：连续的学习流程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9B942-0464-4C19-A39D-EA14E97B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固定 Python 规则计算进度，模型辅助解释理由与目标。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23B91-F170-488B-B943-37908DE9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7172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学习与解释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9E1A0-0A96-4B0E-B0C1-B1244C7F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4857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阅读概念、回答问题，并说出理由。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F1365-B48B-46C7-A6A3-15080C5C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选择下一步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50805-E02D-428E-A1CE-B2239101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4857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规则排序练习，PiPo 读取工具后选择动作。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C8055-6B39-46FA-9630-60888368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487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应用与保存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80FE2-8411-4823-969D-2423B5C5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53025"/>
            <a:ext cx="4857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运行章节代码、查看结果，保留学习记录。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16F74-498E-481F-B516-77E6E2A884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7ca8c2bf546e0"/>
          <a:stretch xmlns:a="http://schemas.openxmlformats.org/drawingml/2006/main"/>
        </p:blipFill>
        <p:spPr>
          <a:xfrm xmlns:a="http://schemas.openxmlformats.org/drawingml/2006/main">
            <a:off x="5810250" y="2470137"/>
            <a:ext cx="5810250" cy="32702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C39ED-39BD-4BC6-8DCE-00C2B90F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第 8 组 · 1:45–3:15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359F5-4F40-477E-9C22-6DC5F6D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3 / 9</a:t>
            </a:r>
          </a:p>
        </p:txBody>
      </p:sp>
    </p:spTree>
    <p:extLst>
      <p:ext uri="{BB962C8B-B14F-4D97-AF65-F5344CB8AC3E}">
        <p14:creationId xmlns:p14="http://schemas.microsoft.com/office/powerpoint/2010/main" val="10406738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2E724-6F2F-48D0-8A4F-31475186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现场演示：理解一次错答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D7E3D-A40C-4E67-BBB3-1E4E2071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示例：x = 5；print(x &gt; 5)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64856-BFEB-4480-A49F-D62A0DB0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717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学生操作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BEB66-9CAE-4246-B0A4-05161602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选择 B：True，并解释自己的判断。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1FFE0-F8CA-476F-AA1D-322439E1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909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可见反馈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33610-9ECE-4FE6-8369-B27E4841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290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固定答案为 False，检查等号边界。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A51EF-8F0D-4F90-BEF5-9DE979C1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修订理由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8B157-24F8-4B46-8FE6-A549B44F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482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修改思路，再分析同一次作答。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B61C3-7FD2-4A94-A8A3-00686D10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第 8 组 · 3:15–5:30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735D8-AB44-4293-8F49-796292C8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4 / 9</a:t>
            </a:r>
          </a:p>
        </p:txBody>
      </p:sp>
    </p:spTree>
    <p:extLst>
      <p:ext uri="{BB962C8B-B14F-4D97-AF65-F5344CB8AC3E}">
        <p14:creationId xmlns:p14="http://schemas.microsoft.com/office/powerpoint/2010/main" val="143217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D436B-6DA4-45FA-BE83-4D65AD7E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现场演示：PiPo 选择练习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89520-23A2-40F5-A4B4-5AC63281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目标：“检查我最近的比较运算错题，打开相关练习。”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1F236-B073-41A8-97D0-2B1B7B65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7172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观察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94E53-58F8-498D-9AA3-19A7E942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4857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PiPo 读取当前进度和可用内容。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91607-1082-404B-B3FE-E473A7A1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决策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F9BBF-68B4-41AC-9D16-D1B739BA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4857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模型根据工具返回结果选择下一次调用。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35F72-1163-4236-9DC5-AF886067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487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核对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9B990-BA5F-4991-B839-CDD688F2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53025"/>
            <a:ext cx="4857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展开真实工具记录，检查实际打开的题目。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4B1DA-F54D-4A4F-B2EF-7BD6C36240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3d316c1854b0f"/>
          <a:srcRect xmlns:a="http://schemas.openxmlformats.org/drawingml/2006/main" l="68775" t="11517" r="2767" b="20084"/>
          <a:stretch xmlns:a="http://schemas.openxmlformats.org/drawingml/2006/main"/>
        </p:blipFill>
        <p:spPr>
          <a:xfrm xmlns:a="http://schemas.openxmlformats.org/drawingml/2006/main">
            <a:off x="8105775" y="2238375"/>
            <a:ext cx="3438525" cy="3905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FCC61-BDBA-444B-A3A9-6D3AC160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第 8 组 · 5:30–8:00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AB60E-F229-4688-9B67-25B87EC2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5 / 9</a:t>
            </a:r>
          </a:p>
        </p:txBody>
      </p:sp>
    </p:spTree>
    <p:extLst>
      <p:ext uri="{BB962C8B-B14F-4D97-AF65-F5344CB8AC3E}">
        <p14:creationId xmlns:p14="http://schemas.microsoft.com/office/powerpoint/2010/main" val="17237400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05623-CF78-4E6D-A3D1-1C36E65C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现场演示：用 Python 应用概念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C6C24-506B-46E4-BAEE-2C14B8EB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星港通行证 · gate_status(energy, has_badge)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28499-95A2-4D31-BA6B-33155F91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7172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编写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3A615-36E9-4F33-A016-0C89718B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4857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保留题目函数和要求精确返回的字符串。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6CC15-01A3-407F-87AF-4121BD64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8A856-DCE4-47FA-9A0D-193C1813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4857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先运行两例，再检查本任务全部七例。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F317C-C7B7-49FD-ADC6-E209A81A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487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观察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15CFD-80F9-4A44-A80A-B225E583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53025"/>
            <a:ext cx="4857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展示案例结果、错误提示和保存的提交。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3F2D0-2607-4A2C-80BA-CC63892560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1d967158a478c"/>
          <a:stretch xmlns:a="http://schemas.openxmlformats.org/drawingml/2006/main"/>
        </p:blipFill>
        <p:spPr>
          <a:xfrm xmlns:a="http://schemas.openxmlformats.org/drawingml/2006/main">
            <a:off x="5810250" y="2470137"/>
            <a:ext cx="5810250" cy="32702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3336AB-113F-4ACE-90A0-69BC0644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第 8 组 · 8:00–10:30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D1C39-1EF5-4005-8069-A2A8AA09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6 / 9</a:t>
            </a:r>
          </a:p>
        </p:txBody>
      </p:sp>
    </p:spTree>
    <p:extLst>
      <p:ext uri="{BB962C8B-B14F-4D97-AF65-F5344CB8AC3E}">
        <p14:creationId xmlns:p14="http://schemas.microsoft.com/office/powerpoint/2010/main" val="20301031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5F55F-9939-4F31-988C-C2C24ADD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现场演示：恢复保存的学习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06639-28FE-4F16-BFDD-E39A7C6A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进度与备份让学习可以继续。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BB07E-7383-4F8D-95B5-87E28088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717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回顾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97D49-7F0D-4A9A-A17D-F11F2101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查看错题、修订理由及编程历史。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7BA46-8438-49EF-BC7C-1C420E18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909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恢复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534E7-6359-49A0-BE77-B7577EBC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290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刷新页面，核对同一空间保留记录。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5E636-F164-4402-BC92-4D1FC69F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迁移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25480-A683-42C4-8377-0AE60A77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482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导出 JSON 备份用于显式转移记录。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6D9B3-DCAA-4B21-8F59-AC00A845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第 8 组 · 10:30–11:30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9D6FC-F631-4A79-A03E-97DD9EB2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7 / 9</a:t>
            </a:r>
          </a:p>
        </p:txBody>
      </p:sp>
    </p:spTree>
    <p:extLst>
      <p:ext uri="{BB962C8B-B14F-4D97-AF65-F5344CB8AC3E}">
        <p14:creationId xmlns:p14="http://schemas.microsoft.com/office/powerpoint/2010/main" val="12458431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41B0B-2A1D-450E-83FE-3D9595A3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工程方法与验证证据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6199D-99C5-473F-B6CC-C82B2BD9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Python 模块化、明确需求与可复现测试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0A0C0-A3F4-40D0-8E28-311BC75F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717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0501E-A3DB-4F80-B765-89718940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LearningEngine、SQLite 事务、JSON 接口与工具执行。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B8939-D159-425E-9995-CE83E132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909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BC742-8B1B-45BE-B361-5E6D9778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290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38 个方法通过：32 个项目测试及 6 个独立示例。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51DA3-8A87-4E89-B247-5D07EC11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工程证据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304D0-9986-44A7-9A43-C1FFFFE7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482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需求测试映射、README、CI 配置及审查标准。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B9F3D-8232-45BF-AA7B-03AE57E7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第 8 组 · 11:30–13:30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8184D-9A43-416A-92CB-F0848D59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8 / 9</a:t>
            </a:r>
          </a:p>
        </p:txBody>
      </p:sp>
    </p:spTree>
    <p:extLst>
      <p:ext uri="{BB962C8B-B14F-4D97-AF65-F5344CB8AC3E}">
        <p14:creationId xmlns:p14="http://schemas.microsoft.com/office/powerpoint/2010/main" val="3910654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FFCC2-DBCA-4D33-AD31-D01AB05D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结论：把反馈连接到下一步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BB7C3-7193-43FB-9E33-41DE2B42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现场学习路径结合了解释、练习与可运行代码。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0CBC0-236A-4486-863D-51BF7E96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717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实用场景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52229-D4AC-4F9F-9166-B17CFFD1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个人自学、课堂练习与小组教学。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7409C-1E53-47E4-A817-560FBE00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909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易用设计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C52FD-DC0B-4801-9E00-6E07EA83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290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单命令启动、中英文操作与记录保留。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E320F-CCD2-453C-8C35-3458433D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7651C7"/>
                </a:solidFill>
                <a:latin typeface="Hiragino Sans GB"/>
                <a:ea typeface="Hiragino Sans GB"/>
                <a:cs typeface="Hiragino Sans GB"/>
              </a:rPr>
              <a:t>项目贡献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10CE0-AE6F-483B-A709-675E9D0B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482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11B36"/>
                </a:solidFill>
                <a:latin typeface="Hiragino Sans GB"/>
                <a:ea typeface="Hiragino Sans GB"/>
                <a:cs typeface="Hiragino Sans GB"/>
              </a:rPr>
              <a:t>PiPo 与 Python 规则把学习决策落到具体活动。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AB4C2-F5C6-433B-A22D-065CB435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第 8 组 · 13:30–14:30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C5929-0816-487E-B5AE-650A1C91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5D75"/>
                </a:solidFill>
                <a:latin typeface="Hiragino Sans GB"/>
                <a:ea typeface="Hiragino Sans GB"/>
                <a:cs typeface="Hiragino Sans GB"/>
              </a:rPr>
              <a:t>9 / 9</a:t>
            </a:r>
          </a:p>
        </p:txBody>
      </p:sp>
    </p:spTree>
    <p:extLst>
      <p:ext uri="{BB962C8B-B14F-4D97-AF65-F5344CB8AC3E}">
        <p14:creationId xmlns:p14="http://schemas.microsoft.com/office/powerpoint/2010/main" val="12430059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2026-10-29T03:22:42.0830000Z</dcterms:created>
  <dcterms:modified xsi:type="dcterms:W3CDTF">2026-10-29T03:22:42.0830000Z</dcterms:modified>
</coreProperties>
</file>